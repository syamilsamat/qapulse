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14B8A6"/>
                </a:solidFill>
                <a:latin typeface="Segoe UI"/>
              </a:defRPr>
            </a:pPr>
            <a:r>
              <a:t>Test Cases / Day (per QA)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Throughput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F43F5E"/>
              </a:solidFill>
            </c:spPr>
          </c:dPt>
          <c:dPt>
            <c:idx val="1"/>
            <c:spPr>
              <a:solidFill>
                <a:srgbClr val="14B8A6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 QA</c:v>
                </c:pt>
                <c:pt idx="1">
                  <c:v>QAPulse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20.0</c:v>
                </c:pt>
                <c:pt idx="1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F8FAF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D416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94A3B8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14B8A6"/>
                </a:solidFill>
                <a:latin typeface="Segoe UI"/>
              </a:defRPr>
            </a:pPr>
            <a:r>
              <a:t>Test Cases / Month (per QA)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Capacity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F43F5E"/>
              </a:solidFill>
            </c:spPr>
          </c:dPt>
          <c:dPt>
            <c:idx val="1"/>
            <c:spPr>
              <a:solidFill>
                <a:srgbClr val="06B6D4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 QA</c:v>
                </c:pt>
                <c:pt idx="1">
                  <c:v>QAPulse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433</c:v>
                </c:pt>
                <c:pt idx="1">
                  <c:v>2165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F8FAF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D416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94A3B8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14B8A6"/>
                </a:solidFill>
                <a:latin typeface="Segoe UI"/>
              </a:defRPr>
            </a:pPr>
            <a:r>
              <a:t>Cost Per Test Case (RM)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/ Test Case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F43F5E"/>
              </a:solidFill>
            </c:spPr>
          </c:dPt>
          <c:dPt>
            <c:idx val="1"/>
            <c:spPr>
              <a:solidFill>
                <a:srgbClr val="14B8A6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 QA</c:v>
                </c:pt>
                <c:pt idx="1">
                  <c:v>QAPulse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11.55</c:v>
                </c:pt>
                <c:pt idx="1">
                  <c:v>2.31</c:v>
                </c:pt>
              </c:numCache>
            </c:numRef>
          </c:val>
        </c:ser>
        <c:dLbls>
          <c:numFmt formatCode="&quot;RM&quot;#,##0.00" sourceLinked="0"/>
          <c:txPr>
            <a:bodyPr/>
            <a:lstStyle/>
            <a:p>
              <a:pPr>
                <a:defRPr sz="1300" b="1">
                  <a:solidFill>
                    <a:srgbClr val="F8FAF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D416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94A3B8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14B8A6"/>
                </a:solidFill>
                <a:latin typeface="Segoe UI"/>
              </a:defRPr>
            </a:pPr>
            <a:r>
              <a:t>Monthly Payroll for 2165 Test Cases (RM)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Payroll Cost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F43F5E"/>
              </a:solidFill>
            </c:spPr>
          </c:dPt>
          <c:dPt>
            <c:idx val="1"/>
            <c:spPr>
              <a:solidFill>
                <a:srgbClr val="14B8A6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 (5 QA)</c:v>
                </c:pt>
                <c:pt idx="1">
                  <c:v>QAPulse (1 QA)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25000</c:v>
                </c:pt>
                <c:pt idx="1">
                  <c:v>5000</c:v>
                </c:pt>
              </c:numCache>
            </c:numRef>
          </c:val>
        </c:ser>
        <c:dLbls>
          <c:numFmt formatCode="&quot;RM&quot;#,##0" sourceLinked="0"/>
          <c:txPr>
            <a:bodyPr/>
            <a:lstStyle/>
            <a:p>
              <a:pPr>
                <a:defRPr sz="1300" b="1">
                  <a:solidFill>
                    <a:srgbClr val="F8FAF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D416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94A3B8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14B8A6"/>
                </a:solidFill>
                <a:latin typeface="Segoe UI"/>
              </a:defRPr>
            </a:pPr>
            <a:r>
              <a:t>Cumulative Cost Avoidance (RM)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Savings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6366F1"/>
              </a:solidFill>
            </c:spPr>
          </c:dPt>
          <c:dPt>
            <c:idx val="1"/>
            <c:spPr>
              <a:solidFill>
                <a:srgbClr val="6366F1"/>
              </a:solidFill>
            </c:spPr>
          </c:dPt>
          <c:dPt>
            <c:idx val="2"/>
            <c:spPr>
              <a:solidFill>
                <a:srgbClr val="06B6D4"/>
              </a:solidFill>
            </c:spPr>
          </c:dPt>
          <c:dPt>
            <c:idx val="3"/>
            <c:spPr>
              <a:solidFill>
                <a:srgbClr val="14B8A6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60000</c:v>
                </c:pt>
                <c:pt idx="1">
                  <c:v>120000</c:v>
                </c:pt>
                <c:pt idx="2">
                  <c:v>180000</c:v>
                </c:pt>
                <c:pt idx="3">
                  <c:v>240000</c:v>
                </c:pt>
              </c:numCache>
            </c:numRef>
          </c:val>
        </c:ser>
        <c:dLbls>
          <c:numFmt formatCode="&quot;RM&quot;#,##0" sourceLinked="0"/>
          <c:txPr>
            <a:bodyPr/>
            <a:lstStyle/>
            <a:p>
              <a:pPr>
                <a:defRPr sz="1300" b="1">
                  <a:solidFill>
                    <a:srgbClr val="F8FAF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D416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D4169"/>
            </a:solidFill>
          </a:ln>
        </c:spPr>
        <c:txPr>
          <a:bodyPr/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94A3B8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/ NOTES FOR C-SUITE:</a:t>
            </a:r>
          </a:p>
          <a:p>
            <a:r>
              <a:t>"Today I want to walk leadership through the hard numbers behind QAPulse — not just what it does, but what it is worth in Ringgit terms. The short version: one QA analyst using QAPulse produces the same test coverage as five QA analysts working manually, at 20% of the cost per test case, freeing up 80% of that analyst's week for higher-value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SCRIPT:</a:t>
            </a:r>
          </a:p>
          <a:p>
            <a:r>
              <a:t>"Before QAPulse, a QA analyst clears 100 test cases a week — 20 a day, or about 24 minutes of manual effort per test case. That ceiling is fixed. The only lever we have today to test more is to hire more, at RM5,000 a month per head."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SCRIPT:</a:t>
            </a:r>
          </a:p>
          <a:p>
            <a:r>
              <a:t>"With QAPulse, the same analyst moves from 20 to 100 test cases a day — a flat 5x multiplier. Over a month that is the difference between 433 and 2165 test cases, with no change in headcount or salary cost."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SCRIPT:</a:t>
            </a:r>
          </a:p>
          <a:p>
            <a:r>
              <a:t>"The same RM5,000 salary now buys RM11.55 worth of testing down to RM2.31 per test case — an 80% reduction in unit cost, with no change in quality standards or sign-off process."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SCRIPT:</a:t>
            </a:r>
          </a:p>
          <a:p>
            <a:r>
              <a:t>"Put another way: hitting 2165 test cases a month manually needs 5 QA analysts on payroll — RM25,000/month. QAPulse gets one analyst to the same output for RM5,000/month. That is RM20,000/month, or RM240,000/year, in avoided hiring cost for every QAPulse-equipped seat — and it scales linearly as the team grows."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SCRIPT:</a:t>
            </a:r>
          </a:p>
          <a:p>
            <a:r>
              <a:t>"This avoided cost is not a one-time event — it compounds every month QAPulse stays in use. By the end of year one, a single QAPulse seat has avoided RM240,000 in headcount cost that would otherwise have been needed to keep pace with the same testing volume."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SCRIPT:</a:t>
            </a:r>
          </a:p>
          <a:p>
            <a:r>
              <a:t>"The RM240,000 figure is only the headcount-avoidance piece — the part we can price precisely. QAPulse also compresses test design time by roughly 40%, turns multi-day PMO reporting cycles into under a minute, removes duplicate defect logging, and closes the traceability gaps that let defects slip into production. None of that is included in the RM240,000 number — it is upside on top."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SCRIPT:</a:t>
            </a:r>
          </a:p>
          <a:p>
            <a:r>
              <a:t>"We wanted this model to survive scrutiny, so every input is stated plainly on this slide. Swap in your actual salary band or team size and the same formulas hold — we are happy to rerun this with Finance's own numbers before it goes into a budget request."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/ CLOSING:</a:t>
            </a:r>
          </a:p>
          <a:p>
            <a:r>
              <a:t>"To close: this is not a projection built on hope, it is basic arithmetic on numbers we already observe today — 100 test cases a week manually versus 100 a day with QAPulse. We would like to validate the team-wide number with Finance and HR, then move to a short pilot to confirm it in the field. Thank you —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80160"/>
            <a:ext cx="3291840" cy="384048"/>
          </a:xfrm>
          <a:prstGeom prst="roundRect">
            <a:avLst/>
          </a:prstGeom>
          <a:solidFill>
            <a:srgbClr val="16213A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4B8A6"/>
                </a:solidFill>
              </a:defRPr>
            </a:pPr>
            <a:r>
              <a:t>●  ROI &amp; 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98755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F8FAFC"/>
                </a:solidFill>
                <a:latin typeface="Segoe UI"/>
              </a:defRPr>
            </a:pPr>
            <a:r>
              <a:t>QAPulse Return on Investment</a:t>
            </a:r>
          </a:p>
          <a:p>
            <a:pPr>
              <a:spcBef>
                <a:spcPts val="1400"/>
              </a:spcBef>
              <a:defRPr sz="1600">
                <a:solidFill>
                  <a:srgbClr val="14B8A6"/>
                </a:solidFill>
              </a:defRPr>
            </a:pPr>
            <a:r>
              <a:t>Quantifying the Productivity &amp; Cost Impact of AI-Assisted QA Testing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114800"/>
            <a:ext cx="2331720" cy="13716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600" b="1">
                <a:solidFill>
                  <a:srgbClr val="14B8A6"/>
                </a:solidFill>
                <a:latin typeface="Segoe UI"/>
              </a:defRPr>
            </a:pPr>
            <a:r>
              <a:t>5x</a:t>
            </a:r>
          </a:p>
          <a:p>
            <a:pPr algn="ctr"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Testing Throughput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4114800"/>
            <a:ext cx="2331720" cy="13716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600" b="1">
                <a:solidFill>
                  <a:srgbClr val="06B6D4"/>
                </a:solidFill>
                <a:latin typeface="Segoe UI"/>
              </a:defRPr>
            </a:pPr>
            <a:r>
              <a:t>80%</a:t>
            </a:r>
          </a:p>
          <a:p>
            <a:pPr algn="ctr"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Lower Cost / Test Case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114800"/>
            <a:ext cx="2331720" cy="13716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  <a:latin typeface="Segoe UI"/>
              </a:defRPr>
            </a:pPr>
            <a:r>
              <a:t>RM240K</a:t>
            </a:r>
          </a:p>
          <a:p>
            <a:pPr algn="ctr"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Est. Annual Savings / QA Seat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4114800"/>
            <a:ext cx="2331720" cy="13716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600" b="1">
                <a:solidFill>
                  <a:srgbClr val="F59E0B"/>
                </a:solidFill>
                <a:latin typeface="Segoe UI"/>
              </a:defRPr>
            </a:pPr>
            <a:r>
              <a:t>80%</a:t>
            </a:r>
          </a:p>
          <a:p>
            <a:pPr algn="ctr"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QA Capacity Freed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Prepared for Executive Review  |  August 2026  |  Baseline: 1 QA seat, RM5,000/month salary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The Manual Testing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Today's baseline QA throughput, before QAPulse, per tester.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29000" cy="173736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43F5E"/>
                </a:solidFill>
                <a:latin typeface="Segoe UI"/>
              </a:defRPr>
            </a:pPr>
            <a:r>
              <a:t>100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Test Cases / Week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Manual authoring &amp; execution pace per QA analyst.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29000" cy="173736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05740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43F5E"/>
                </a:solidFill>
                <a:latin typeface="Segoe UI"/>
              </a:defRPr>
            </a:pPr>
            <a:r>
              <a:t>20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Test Cases / Day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100 ÷ 5 working days — the effective daily ceiling.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920240"/>
            <a:ext cx="3429000" cy="173736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5740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43F5E"/>
                </a:solidFill>
                <a:latin typeface="Segoe UI"/>
              </a:defRPr>
            </a:pPr>
            <a:r>
              <a:t>24 min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Per Test Case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Average time to author, execute, and log one test case manually.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698480" cy="2286000"/>
          </a:xfrm>
          <a:prstGeom prst="roundRect">
            <a:avLst/>
          </a:prstGeom>
          <a:solidFill>
            <a:srgbClr val="1E2C4C"/>
          </a:solidFill>
          <a:ln w="1524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149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4B8A6"/>
                </a:solidFill>
              </a:defRPr>
            </a:pPr>
            <a:r>
              <a:t>WHY THIS IS A BUSINESS RISK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 Fixed capacity: QA output scales only by hiring, not by demand — every new project competes for the same 100 test cases/week.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 Sprint-end crunch: manual authoring and Excel consolidation push execution into the final days before UAT sign-off.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 Cost is linear: doubling test coverage means doubling headcount — RM5,000/month per additional QA analyst.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THE QAPULSE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5x Testing Throughput, Same Headcount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AI-assisted authoring and one-click execution lift daily output from 20 to 100 test cases.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828800"/>
          <a:ext cx="52120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28800"/>
          <a:ext cx="521208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Cost Per Test Case Falls 80%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RM5,000 monthly salary, spread across 5x more completed test cases.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82880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828800"/>
            <a:ext cx="4389120" cy="4297680"/>
          </a:xfrm>
          <a:prstGeom prst="roundRect">
            <a:avLst/>
          </a:prstGeom>
          <a:solidFill>
            <a:srgbClr val="1E2C4C"/>
          </a:solidFill>
          <a:ln w="1524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057400"/>
            <a:ext cx="38404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4B8A6"/>
                </a:solidFill>
              </a:defRPr>
            </a:pPr>
            <a:r>
              <a:t>THE CALCULATION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Manual: RM5,000 ÷ 433 test cases/month</a:t>
            </a:r>
          </a:p>
          <a:p>
            <a:pPr>
              <a:spcBef>
                <a:spcPts val="200"/>
              </a:spcBef>
              <a:defRPr sz="1500" b="1">
                <a:solidFill>
                  <a:srgbClr val="06B6D4"/>
                </a:solidFill>
              </a:defRPr>
            </a:pPr>
            <a:r>
              <a:t>= RM11.55 / test case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QAPulse: RM5,000 ÷ 2165 test cases/month</a:t>
            </a:r>
          </a:p>
          <a:p>
            <a:pPr>
              <a:spcBef>
                <a:spcPts val="200"/>
              </a:spcBef>
              <a:defRPr sz="1500" b="1">
                <a:solidFill>
                  <a:srgbClr val="06B6D4"/>
                </a:solidFill>
              </a:defRPr>
            </a:pPr>
            <a:r>
              <a:t>= RM2.31 / test case</a:t>
            </a:r>
          </a:p>
          <a:p>
            <a:pPr>
              <a:spcBef>
                <a:spcPts val="600"/>
              </a:spcBef>
            </a:pPr>
            <a:r>
              <a:t> </a:t>
            </a:r>
          </a:p>
          <a:p>
            <a:pPr>
              <a:spcBef>
                <a:spcPts val="1000"/>
              </a:spcBef>
              <a:defRPr sz="1500" b="1">
                <a:solidFill>
                  <a:srgbClr val="10B981"/>
                </a:solidFill>
              </a:defRPr>
            </a:pPr>
            <a:r>
              <a:t>Savings: RM9.24 per test case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→ 80% reduction in cost per test case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HEADCOUNT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RM240,000 Avoided Per QAPulse Seat, Per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To manually match one QAPulse analyst's monthly output (2165 test cases), you would need 5 QA analysts.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82880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828800"/>
            <a:ext cx="4389120" cy="132588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965960"/>
            <a:ext cx="41148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Extra Headcount Avoided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per QAPulse-equipped QA seat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310128"/>
            <a:ext cx="4389120" cy="132588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47288"/>
            <a:ext cx="41148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RM20,000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Avoided Cost / Month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4 FTE x RM5,000 salary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791456"/>
            <a:ext cx="4389120" cy="132588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4928616"/>
            <a:ext cx="41148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RM240,000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Avoided Cost / Year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per QAPulse seat, compounding across the team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VALUE OVER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Cumulative Cost Avoidance — 12 Month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RM20,000/month in avoided headcount cost compounds to RM240,000 in year one, per QAPulse seat.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828800"/>
          <a:ext cx="106984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BEYOND TEST-CASE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What Else QAPulse Saves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Value the salary-based ROI model above does not even capture.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64992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30449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4B8A6"/>
                </a:solidFill>
              </a:defRPr>
            </a:pPr>
            <a:r>
              <a:t>~40% FASTER TEST DESIGN</a:t>
            </a:r>
          </a:p>
          <a:p>
            <a:pPr>
              <a:spcBef>
                <a:spcPts val="500"/>
              </a:spcBef>
              <a:defRPr sz="1250" b="1">
                <a:solidFill>
                  <a:srgbClr val="F8FAFC"/>
                </a:solidFill>
              </a:defRPr>
            </a:pPr>
            <a:r>
              <a:t>AI Requirement Analyzer &amp; Test Generator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Google GenAI drafts test cases straight from requirements/user stories — analysts edit and approve rather than author from scratch.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828800"/>
            <a:ext cx="3364992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98264" y="1965960"/>
            <a:ext cx="30449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6B6D4"/>
                </a:solidFill>
              </a:defRPr>
            </a:pPr>
            <a:r>
              <a:t>DAYS → UNDER 60 SECONDS</a:t>
            </a:r>
          </a:p>
          <a:p>
            <a:pPr>
              <a:spcBef>
                <a:spcPts val="500"/>
              </a:spcBef>
              <a:defRPr sz="1250" b="1">
                <a:solidFill>
                  <a:srgbClr val="F8FAFC"/>
                </a:solidFill>
              </a:defRPr>
            </a:pPr>
            <a:r>
              <a:t>Automated PMO Reporting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Review Log, Pareto Analysis, CAPA sheets and the PMO verdict email/PDF are generated automatically on save — no manual Excel consolidation.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35824" y="1828800"/>
            <a:ext cx="3364992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0416" y="1965960"/>
            <a:ext cx="30449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6366F1"/>
                </a:solidFill>
              </a:defRPr>
            </a:pPr>
            <a:r>
              <a:t>ZERO DUPLICATE DATA ENTRY</a:t>
            </a:r>
          </a:p>
          <a:p>
            <a:pPr>
              <a:spcBef>
                <a:spcPts val="500"/>
              </a:spcBef>
              <a:defRPr sz="1250" b="1">
                <a:solidFill>
                  <a:srgbClr val="F8FAFC"/>
                </a:solidFill>
              </a:defRPr>
            </a:pPr>
            <a:r>
              <a:t>Automatic Defect Creation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A Failed test step creates a Redmine defect as a child issue automatically — testers never re-key the same failure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364992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069080"/>
            <a:ext cx="30449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t>100% REQUIREMENT-TO-DEFECT COVERAGE</a:t>
            </a:r>
          </a:p>
          <a:p>
            <a:pPr>
              <a:spcBef>
                <a:spcPts val="500"/>
              </a:spcBef>
              <a:defRPr sz="1250" b="1">
                <a:solidFill>
                  <a:srgbClr val="F8FAFC"/>
                </a:solidFill>
              </a:defRPr>
            </a:pPr>
            <a:r>
              <a:t>End-to-End Traceability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Every requirement, test case, execution and defect is linked — eliminating the cost of defects that leak past UAT into production.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3931920"/>
            <a:ext cx="3364992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4069080"/>
            <a:ext cx="30449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F59E0B"/>
                </a:solidFill>
              </a:defRPr>
            </a:pPr>
            <a:r>
              <a:t>0 VERSION-CONFLICT REWORK</a:t>
            </a:r>
          </a:p>
          <a:p>
            <a:pPr>
              <a:spcBef>
                <a:spcPts val="500"/>
              </a:spcBef>
              <a:defRPr sz="1250" b="1">
                <a:solidFill>
                  <a:srgbClr val="F8FAFC"/>
                </a:solidFill>
              </a:defRPr>
            </a:pPr>
            <a:r>
              <a:t>Eliminated Spreadsheet Sprawl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One shared execution file per Redmine ticket replaces emailed Excel copies — no more reconciling whose version is current.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35824" y="3931920"/>
            <a:ext cx="3364992" cy="192024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0416" y="4069080"/>
            <a:ext cx="3044952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A855F7"/>
                </a:solidFill>
              </a:defRPr>
            </a:pPr>
            <a:r>
              <a:t>LOWER COMPLIANCE/AUDIT PREP COST</a:t>
            </a:r>
          </a:p>
          <a:p>
            <a:pPr>
              <a:spcBef>
                <a:spcPts val="500"/>
              </a:spcBef>
              <a:defRPr sz="1250" b="1">
                <a:solidFill>
                  <a:srgbClr val="F8FAFC"/>
                </a:solidFill>
              </a:defRPr>
            </a:pPr>
            <a:r>
              <a:t>Immutable Audit Trail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Every status change and sign-off is logged automatically, reducing the effort to reconstruct evidence for audits.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Assumptions Behind These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Transparent inputs so Finance and HR can validate or recalibrate this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1100"/>
              </a:spcBef>
            </a:pPr>
            <a:r>
              <a:rPr sz="1300" b="1">
                <a:solidFill>
                  <a:srgbClr val="14B8A6"/>
                </a:solidFill>
              </a:rPr>
              <a:t>Baseline QA salary:  </a:t>
            </a:r>
            <a:r>
              <a:rPr sz="1300">
                <a:solidFill>
                  <a:srgbClr val="F8FAFC"/>
                </a:solidFill>
              </a:rPr>
              <a:t>RM5,000 / month per QA analyst (as provided).</a:t>
            </a:r>
          </a:p>
          <a:p>
            <a:pPr>
              <a:spcBef>
                <a:spcPts val="1100"/>
              </a:spcBef>
            </a:pPr>
            <a:r>
              <a:rPr sz="1300" b="1">
                <a:solidFill>
                  <a:srgbClr val="14B8A6"/>
                </a:solidFill>
              </a:rPr>
              <a:t>Manual throughput:  </a:t>
            </a:r>
            <a:r>
              <a:rPr sz="1300">
                <a:solidFill>
                  <a:srgbClr val="F8FAFC"/>
                </a:solidFill>
              </a:rPr>
              <a:t>100 test cases / week, 5-day work week → 20 test cases / day.</a:t>
            </a:r>
          </a:p>
          <a:p>
            <a:pPr>
              <a:spcBef>
                <a:spcPts val="1100"/>
              </a:spcBef>
            </a:pPr>
            <a:r>
              <a:rPr sz="1300" b="1">
                <a:solidFill>
                  <a:srgbClr val="14B8A6"/>
                </a:solidFill>
              </a:rPr>
              <a:t>QAPulse throughput:  </a:t>
            </a:r>
            <a:r>
              <a:rPr sz="1300">
                <a:solidFill>
                  <a:srgbClr val="F8FAFC"/>
                </a:solidFill>
              </a:rPr>
              <a:t>100 test cases / day (as provided), same 5-day work week.</a:t>
            </a:r>
          </a:p>
          <a:p>
            <a:pPr>
              <a:spcBef>
                <a:spcPts val="1100"/>
              </a:spcBef>
            </a:pPr>
            <a:r>
              <a:rPr sz="1300" b="1">
                <a:solidFill>
                  <a:srgbClr val="14B8A6"/>
                </a:solidFill>
              </a:rPr>
              <a:t>Month length:  </a:t>
            </a:r>
            <a:r>
              <a:rPr sz="1300">
                <a:solidFill>
                  <a:srgbClr val="F8FAFC"/>
                </a:solidFill>
              </a:rPr>
              <a:t>4.33 weeks / month (21.65 working days) — standard calendar averaging.</a:t>
            </a:r>
          </a:p>
          <a:p>
            <a:pPr>
              <a:spcBef>
                <a:spcPts val="1100"/>
              </a:spcBef>
            </a:pPr>
            <a:r>
              <a:rPr sz="1300" b="1">
                <a:solidFill>
                  <a:srgbClr val="14B8A6"/>
                </a:solidFill>
              </a:rPr>
              <a:t>Cost per test case:  </a:t>
            </a:r>
            <a:r>
              <a:rPr sz="1300">
                <a:solidFill>
                  <a:srgbClr val="F8FAFC"/>
                </a:solidFill>
              </a:rPr>
              <a:t>Monthly salary ÷ monthly test cases completed, same analyst, same salary.</a:t>
            </a:r>
          </a:p>
          <a:p>
            <a:pPr>
              <a:spcBef>
                <a:spcPts val="1100"/>
              </a:spcBef>
            </a:pPr>
            <a:r>
              <a:rPr sz="1300" b="1">
                <a:solidFill>
                  <a:srgbClr val="14B8A6"/>
                </a:solidFill>
              </a:rPr>
              <a:t>Headcount avoidance:  </a:t>
            </a:r>
            <a:r>
              <a:rPr sz="1300">
                <a:solidFill>
                  <a:srgbClr val="F8FAFC"/>
                </a:solidFill>
              </a:rPr>
              <a:t>Extra manual FTEs needed to match QAPulse's monthly output, at the same RM5,000 salary each.</a:t>
            </a:r>
          </a:p>
          <a:p>
            <a:pPr>
              <a:spcBef>
                <a:spcPts val="1100"/>
              </a:spcBef>
            </a:pPr>
            <a:r>
              <a:rPr sz="1300" b="1">
                <a:solidFill>
                  <a:srgbClr val="14B8A6"/>
                </a:solidFill>
              </a:rPr>
              <a:t>Not included:  </a:t>
            </a:r>
            <a:r>
              <a:rPr sz="1300">
                <a:solidFill>
                  <a:srgbClr val="F8FAFC"/>
                </a:solidFill>
              </a:rPr>
              <a:t>QAPulse licensing/build/hosting cost is not netted off — the figures above are gross value created, not net ROI %.</a:t>
            </a:r>
          </a:p>
          <a:p>
            <a:pPr>
              <a:spcBef>
                <a:spcPts val="1100"/>
              </a:spcBef>
            </a:pPr>
            <a:r>
              <a:rPr sz="1300" b="1">
                <a:solidFill>
                  <a:srgbClr val="14B8A6"/>
                </a:solidFill>
              </a:rPr>
              <a:t>Scaling:  </a:t>
            </a:r>
            <a:r>
              <a:rPr sz="1300">
                <a:solidFill>
                  <a:srgbClr val="F8FAFC"/>
                </a:solidFill>
              </a:rPr>
              <a:t>All figures are per QA seat — multiply by the number of QAPulse-equipped analysts for team- or department-wide impact.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The Business Case Is Clear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 5x productivity gain and RM240,000/year in avoided cost, per QA seat.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2103120"/>
          </a:xfrm>
          <a:prstGeom prst="roundRect">
            <a:avLst/>
          </a:prstGeom>
          <a:solidFill>
            <a:srgbClr val="1E2C4C"/>
          </a:solidFill>
          <a:ln w="1524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4B8A6"/>
                </a:solidFill>
              </a:defRPr>
            </a:pPr>
            <a:r>
              <a:t>THE VERDICT</a:t>
            </a:r>
          </a:p>
          <a:p>
            <a:pPr>
              <a:spcBef>
                <a:spcPts val="800"/>
              </a:spcBef>
              <a:defRPr sz="1400">
                <a:solidFill>
                  <a:srgbClr val="F8FAFC"/>
                </a:solidFill>
              </a:defRPr>
            </a:pPr>
            <a:r>
              <a:t>Every QA analyst equipped with QAPulse delivers the output of five, at one-fifth the cost per test case — worth RM240,000/year in avoided headcount alone, before counting faster test design, automated reporting, and full traceability.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3429000" cy="18288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1.  Validate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Confirm salary bands and current QA headcount with Finance/HR to size the full team-wide savings.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4297680"/>
            <a:ext cx="3429000" cy="18288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443484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2.  Pilot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Track actual test cases/day for one sprint on 1-2 projects to confirm the 5x multiplier in practice.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4297680"/>
            <a:ext cx="3429000" cy="1828800"/>
          </a:xfrm>
          <a:prstGeom prst="roundRect">
            <a:avLst/>
          </a:prstGeom>
          <a:solidFill>
            <a:srgbClr val="16213A"/>
          </a:solidFill>
          <a:ln w="15240">
            <a:solidFill>
              <a:srgbClr val="2D4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443484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3.  Scale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Extend to the full QA team and fold the confirmed savings into the next budget cycle.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