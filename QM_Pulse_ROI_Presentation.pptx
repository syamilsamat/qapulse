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 b="1">
                <a:solidFill>
                  <a:srgbClr val="14B8A6"/>
                </a:solidFill>
                <a:latin typeface="Segoe UI"/>
              </a:defRPr>
            </a:pPr>
            <a:r>
              <a:t>Test Cases / Day (per QA)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Daily Throughput</c:v>
                </c:pt>
              </c:strCache>
            </c:strRef>
          </c:tx>
          <c:spPr>
            <a:ln>
              <a:noFill/>
            </a:ln>
          </c:spPr>
          <c:dPt>
            <c:idx val="0"/>
            <c:spPr>
              <a:solidFill>
                <a:srgbClr val="F43F5E"/>
              </a:solidFill>
            </c:spPr>
          </c:dPt>
          <c:dPt>
            <c:idx val="1"/>
            <c:spPr>
              <a:solidFill>
                <a:srgbClr val="14B8A6"/>
              </a:solidFill>
            </c:spPr>
          </c:dPt>
          <c:cat>
            <c:strRef>
              <c:f>Sheet1!$A$2:$A$3</c:f>
              <c:strCache>
                <c:ptCount val="2"/>
                <c:pt idx="0">
                  <c:v>Manual QA</c:v>
                </c:pt>
                <c:pt idx="1">
                  <c:v>QM Pulse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20.0</c:v>
                </c:pt>
                <c:pt idx="1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300" b="1">
                  <a:solidFill>
                    <a:srgbClr val="F8FAFC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2D4169"/>
            </a:solidFill>
          </a:ln>
        </c:spPr>
        <c:txPr>
          <a:bodyPr/>
          <a:lstStyle/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6350">
              <a:solidFill>
                <a:srgbClr val="2D4169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2D4169"/>
            </a:solidFill>
          </a:ln>
        </c:spPr>
        <c:txPr>
          <a:bodyPr/>
          <a:lstStyle/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>
          <a:solidFill>
            <a:srgbClr val="94A3B8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 b="1">
                <a:solidFill>
                  <a:srgbClr val="14B8A6"/>
                </a:solidFill>
                <a:latin typeface="Segoe UI"/>
              </a:defRPr>
            </a:pPr>
            <a:r>
              <a:t>Test Cases / Month (per QA)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Monthly Capacity</c:v>
                </c:pt>
              </c:strCache>
            </c:strRef>
          </c:tx>
          <c:spPr>
            <a:ln>
              <a:noFill/>
            </a:ln>
          </c:spPr>
          <c:dPt>
            <c:idx val="0"/>
            <c:spPr>
              <a:solidFill>
                <a:srgbClr val="F43F5E"/>
              </a:solidFill>
            </c:spPr>
          </c:dPt>
          <c:dPt>
            <c:idx val="1"/>
            <c:spPr>
              <a:solidFill>
                <a:srgbClr val="06B6D4"/>
              </a:solidFill>
            </c:spPr>
          </c:dPt>
          <c:cat>
            <c:strRef>
              <c:f>Sheet1!$A$2:$A$3</c:f>
              <c:strCache>
                <c:ptCount val="2"/>
                <c:pt idx="0">
                  <c:v>Manual QA</c:v>
                </c:pt>
                <c:pt idx="1">
                  <c:v>QM Pulse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433</c:v>
                </c:pt>
                <c:pt idx="1">
                  <c:v>2165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300" b="1">
                  <a:solidFill>
                    <a:srgbClr val="F8FAFC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2D4169"/>
            </a:solidFill>
          </a:ln>
        </c:spPr>
        <c:txPr>
          <a:bodyPr/>
          <a:lstStyle/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6350">
              <a:solidFill>
                <a:srgbClr val="2D4169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2D4169"/>
            </a:solidFill>
          </a:ln>
        </c:spPr>
        <c:txPr>
          <a:bodyPr/>
          <a:lstStyle/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>
          <a:solidFill>
            <a:srgbClr val="94A3B8"/>
          </a:solidFill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 b="1">
                <a:solidFill>
                  <a:srgbClr val="14B8A6"/>
                </a:solidFill>
                <a:latin typeface="Segoe UI"/>
              </a:defRPr>
            </a:pPr>
            <a:r>
              <a:t>Cost Per Test Case (RM)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Cost / Test Case</c:v>
                </c:pt>
              </c:strCache>
            </c:strRef>
          </c:tx>
          <c:spPr>
            <a:ln>
              <a:noFill/>
            </a:ln>
          </c:spPr>
          <c:dPt>
            <c:idx val="0"/>
            <c:spPr>
              <a:solidFill>
                <a:srgbClr val="F43F5E"/>
              </a:solidFill>
            </c:spPr>
          </c:dPt>
          <c:dPt>
            <c:idx val="1"/>
            <c:spPr>
              <a:solidFill>
                <a:srgbClr val="14B8A6"/>
              </a:solidFill>
            </c:spPr>
          </c:dPt>
          <c:cat>
            <c:strRef>
              <c:f>Sheet1!$A$2:$A$3</c:f>
              <c:strCache>
                <c:ptCount val="2"/>
                <c:pt idx="0">
                  <c:v>Manual QA</c:v>
                </c:pt>
                <c:pt idx="1">
                  <c:v>QM Pulse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11.55</c:v>
                </c:pt>
                <c:pt idx="1">
                  <c:v>2.31</c:v>
                </c:pt>
              </c:numCache>
            </c:numRef>
          </c:val>
        </c:ser>
        <c:dLbls>
          <c:numFmt formatCode="&quot;RM&quot;#,##0.00" sourceLinked="0"/>
          <c:txPr>
            <a:bodyPr/>
            <a:lstStyle/>
            <a:p>
              <a:pPr>
                <a:defRPr sz="1300" b="1">
                  <a:solidFill>
                    <a:srgbClr val="F8FAFC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2D4169"/>
            </a:solidFill>
          </a:ln>
        </c:spPr>
        <c:txPr>
          <a:bodyPr/>
          <a:lstStyle/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6350">
              <a:solidFill>
                <a:srgbClr val="2D4169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2D4169"/>
            </a:solidFill>
          </a:ln>
        </c:spPr>
        <c:txPr>
          <a:bodyPr/>
          <a:lstStyle/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>
          <a:solidFill>
            <a:srgbClr val="94A3B8"/>
          </a:solidFill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 b="1">
                <a:solidFill>
                  <a:srgbClr val="14B8A6"/>
                </a:solidFill>
                <a:latin typeface="Segoe UI"/>
              </a:defRPr>
            </a:pPr>
            <a:r>
              <a:t>Monthly Payroll for 2165 Test Cases (RM)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Payroll Cost</c:v>
                </c:pt>
              </c:strCache>
            </c:strRef>
          </c:tx>
          <c:spPr>
            <a:ln>
              <a:noFill/>
            </a:ln>
          </c:spPr>
          <c:dPt>
            <c:idx val="0"/>
            <c:spPr>
              <a:solidFill>
                <a:srgbClr val="F43F5E"/>
              </a:solidFill>
            </c:spPr>
          </c:dPt>
          <c:dPt>
            <c:idx val="1"/>
            <c:spPr>
              <a:solidFill>
                <a:srgbClr val="14B8A6"/>
              </a:solidFill>
            </c:spPr>
          </c:dPt>
          <c:cat>
            <c:strRef>
              <c:f>Sheet1!$A$2:$A$3</c:f>
              <c:strCache>
                <c:ptCount val="2"/>
                <c:pt idx="0">
                  <c:v>Manual (5 QA)</c:v>
                </c:pt>
                <c:pt idx="1">
                  <c:v>QM Pulse (1 QA)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25000</c:v>
                </c:pt>
                <c:pt idx="1">
                  <c:v>5000</c:v>
                </c:pt>
              </c:numCache>
            </c:numRef>
          </c:val>
        </c:ser>
        <c:dLbls>
          <c:numFmt formatCode="&quot;RM&quot;#,##0" sourceLinked="0"/>
          <c:txPr>
            <a:bodyPr/>
            <a:lstStyle/>
            <a:p>
              <a:pPr>
                <a:defRPr sz="1300" b="1">
                  <a:solidFill>
                    <a:srgbClr val="F8FAFC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2D4169"/>
            </a:solidFill>
          </a:ln>
        </c:spPr>
        <c:txPr>
          <a:bodyPr/>
          <a:lstStyle/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6350">
              <a:solidFill>
                <a:srgbClr val="2D4169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2D4169"/>
            </a:solidFill>
          </a:ln>
        </c:spPr>
        <c:txPr>
          <a:bodyPr/>
          <a:lstStyle/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>
          <a:solidFill>
            <a:srgbClr val="94A3B8"/>
          </a:solidFill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 b="1">
                <a:solidFill>
                  <a:srgbClr val="14B8A6"/>
                </a:solidFill>
                <a:latin typeface="Segoe UI"/>
              </a:defRPr>
            </a:pPr>
            <a:r>
              <a:t>Cumulative Cost Avoidance (RM)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Savings</c:v>
                </c:pt>
              </c:strCache>
            </c:strRef>
          </c:tx>
          <c:spPr>
            <a:ln>
              <a:noFill/>
            </a:ln>
          </c:spPr>
          <c:dPt>
            <c:idx val="0"/>
            <c:spPr>
              <a:solidFill>
                <a:srgbClr val="6366F1"/>
              </a:solidFill>
            </c:spPr>
          </c:dPt>
          <c:dPt>
            <c:idx val="1"/>
            <c:spPr>
              <a:solidFill>
                <a:srgbClr val="6366F1"/>
              </a:solidFill>
            </c:spPr>
          </c:dPt>
          <c:dPt>
            <c:idx val="2"/>
            <c:spPr>
              <a:solidFill>
                <a:srgbClr val="06B6D4"/>
              </a:solidFill>
            </c:spPr>
          </c:dPt>
          <c:dPt>
            <c:idx val="3"/>
            <c:spPr>
              <a:solidFill>
                <a:srgbClr val="14B8A6"/>
              </a:solidFill>
            </c:spPr>
          </c:dPt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60000</c:v>
                </c:pt>
                <c:pt idx="1">
                  <c:v>120000</c:v>
                </c:pt>
                <c:pt idx="2">
                  <c:v>180000</c:v>
                </c:pt>
                <c:pt idx="3">
                  <c:v>240000</c:v>
                </c:pt>
              </c:numCache>
            </c:numRef>
          </c:val>
        </c:ser>
        <c:dLbls>
          <c:numFmt formatCode="&quot;RM&quot;#,##0" sourceLinked="0"/>
          <c:txPr>
            <a:bodyPr/>
            <a:lstStyle/>
            <a:p>
              <a:pPr>
                <a:defRPr sz="1300" b="1">
                  <a:solidFill>
                    <a:srgbClr val="F8FAFC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2D4169"/>
            </a:solidFill>
          </a:ln>
        </c:spPr>
        <c:txPr>
          <a:bodyPr/>
          <a:lstStyle/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6350">
              <a:solidFill>
                <a:srgbClr val="2D4169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2D4169"/>
            </a:solidFill>
          </a:ln>
        </c:spPr>
        <c:txPr>
          <a:bodyPr/>
          <a:lstStyle/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>
          <a:solidFill>
            <a:srgbClr val="94A3B8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/ NOTES FOR C-SUITE:</a:t>
            </a:r>
          </a:p>
          <a:p>
            <a:r>
              <a:t>"Today I want to walk leadership through the hard numbers behind QM Pulse — not just what it does, but what it is worth in Ringgit terms. The short version: one QA analyst using QM Pulse produces the same test coverage as five QA analysts working manually, at 20% of the cost per test case, freeing up 80% of that analyst's week for higher-value work."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SCRIPT:</a:t>
            </a:r>
          </a:p>
          <a:p>
            <a:r>
              <a:t>"Before QM Pulse, a QA analyst clears 100 test cases a week — 20 a day, or about 24 minutes of manual effort per test case. That ceiling is fixed. The only lever we have today to test more is to hire more, at RM5,000 a month per head."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SCRIPT:</a:t>
            </a:r>
          </a:p>
          <a:p>
            <a:r>
              <a:t>"With QM Pulse, the same analyst moves from 20 to 100 test cases a day — a flat 5x multiplier. Over a month that is the difference between 433 and 2165 test cases, with no change in headcount or salary cost."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SCRIPT:</a:t>
            </a:r>
          </a:p>
          <a:p>
            <a:r>
              <a:t>"The same RM5,000 salary now buys RM11.55 worth of testing down to RM2.31 per test case — an 80% reduction in unit cost, with no change in quality standards or sign-off process."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SCRIPT:</a:t>
            </a:r>
          </a:p>
          <a:p>
            <a:r>
              <a:t>"Put another way: hitting 2165 test cases a month manually needs 5 QA analysts on payroll — RM25,000/month. QM Pulse gets one analyst to the same output for RM5,000/month. That is RM20,000/month, or RM240,000/year, in avoided hiring cost for every QM Pulse-equipped seat — and it scales linearly as the team grows."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SCRIPT:</a:t>
            </a:r>
          </a:p>
          <a:p>
            <a:r>
              <a:t>"This avoided cost is not a one-time event — it compounds every month QM Pulse stays in use. By the end of year one, a single QM Pulse seat has avoided RM240,000 in headcount cost that would otherwise have been needed to keep pace with the same testing volume."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SCRIPT:</a:t>
            </a:r>
          </a:p>
          <a:p>
            <a:r>
              <a:t>"The RM240,000 figure is only the headcount-avoidance piece — the part we can price precisely. QM Pulse also compresses test design time by roughly 40%, turns multi-day PMO reporting cycles into under a minute, removes duplicate defect logging, and closes the traceability gaps that let defects slip into production. None of that is included in the RM240,000 number — it is upside on top."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SCRIPT:</a:t>
            </a:r>
          </a:p>
          <a:p>
            <a:r>
              <a:t>"We wanted this model to survive scrutiny, so every input is stated plainly on this slide. Swap in your actual salary band or team size and the same formulas hold — we are happy to rerun this with Finance's own numbers before it goes into a budget request."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/ CLOSING:</a:t>
            </a:r>
          </a:p>
          <a:p>
            <a:r>
              <a:t>"To close: this is not a projection built on hope, it is basic arithmetic on numbers we already observe today — 100 test cases a week manually versus 100 a day with QM Pulse. We would like to validate the team-wide number with Finance and HR, then move to a short pilot to confirm it in the field. Thank you — happy to take questions."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280160"/>
            <a:ext cx="3291840" cy="384048"/>
          </a:xfrm>
          <a:prstGeom prst="roundRect">
            <a:avLst/>
          </a:prstGeom>
          <a:solidFill>
            <a:srgbClr val="16213A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B8A6"/>
                </a:solidFill>
              </a:defRPr>
            </a:pPr>
            <a:r>
              <a:t>●  ROI &amp; BUSINESS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74519"/>
            <a:ext cx="987552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000" b="1">
                <a:solidFill>
                  <a:srgbClr val="F8FAFC"/>
                </a:solidFill>
                <a:latin typeface="Segoe UI"/>
              </a:defRPr>
            </a:pPr>
            <a:r>
              <a:t>QM Pulse Return on Investment</a:t>
            </a:r>
          </a:p>
          <a:p>
            <a:pPr>
              <a:spcBef>
                <a:spcPts val="1400"/>
              </a:spcBef>
              <a:defRPr sz="1600">
                <a:solidFill>
                  <a:srgbClr val="14B8A6"/>
                </a:solidFill>
              </a:defRPr>
            </a:pPr>
            <a:r>
              <a:t>Quantifying the Productivity &amp; Cost Impact of AI-Assisted QA Testing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114800"/>
            <a:ext cx="2331720" cy="1371600"/>
          </a:xfrm>
          <a:prstGeom prst="roundRect">
            <a:avLst/>
          </a:prstGeom>
          <a:solidFill>
            <a:srgbClr val="16213A"/>
          </a:solidFill>
          <a:ln w="15240">
            <a:solidFill>
              <a:srgbClr val="2D41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4251960"/>
            <a:ext cx="2057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600" b="1">
                <a:solidFill>
                  <a:srgbClr val="14B8A6"/>
                </a:solidFill>
                <a:latin typeface="Segoe UI"/>
              </a:defRPr>
            </a:pPr>
            <a:r>
              <a:t>5x</a:t>
            </a:r>
          </a:p>
          <a:p>
            <a:pPr algn="ctr"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Testing Throughput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4114800"/>
            <a:ext cx="2331720" cy="1371600"/>
          </a:xfrm>
          <a:prstGeom prst="roundRect">
            <a:avLst/>
          </a:prstGeom>
          <a:solidFill>
            <a:srgbClr val="16213A"/>
          </a:solidFill>
          <a:ln w="15240">
            <a:solidFill>
              <a:srgbClr val="2D41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4251960"/>
            <a:ext cx="2057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600" b="1">
                <a:solidFill>
                  <a:srgbClr val="06B6D4"/>
                </a:solidFill>
                <a:latin typeface="Segoe UI"/>
              </a:defRPr>
            </a:pPr>
            <a:r>
              <a:t>80%</a:t>
            </a:r>
          </a:p>
          <a:p>
            <a:pPr algn="ctr"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Lower Cost / Test Case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114800"/>
            <a:ext cx="2331720" cy="1371600"/>
          </a:xfrm>
          <a:prstGeom prst="roundRect">
            <a:avLst/>
          </a:prstGeom>
          <a:solidFill>
            <a:srgbClr val="16213A"/>
          </a:solidFill>
          <a:ln w="15240">
            <a:solidFill>
              <a:srgbClr val="2D41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4251960"/>
            <a:ext cx="2057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600" b="1">
                <a:solidFill>
                  <a:srgbClr val="10B981"/>
                </a:solidFill>
                <a:latin typeface="Segoe UI"/>
              </a:defRPr>
            </a:pPr>
            <a:r>
              <a:t>RM240K</a:t>
            </a:r>
          </a:p>
          <a:p>
            <a:pPr algn="ctr"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Est. Annual Savings / QA Seat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41080" y="4114800"/>
            <a:ext cx="2331720" cy="1371600"/>
          </a:xfrm>
          <a:prstGeom prst="roundRect">
            <a:avLst/>
          </a:prstGeom>
          <a:solidFill>
            <a:srgbClr val="16213A"/>
          </a:solidFill>
          <a:ln w="15240">
            <a:solidFill>
              <a:srgbClr val="2D41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0" y="4251960"/>
            <a:ext cx="2057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600" b="1">
                <a:solidFill>
                  <a:srgbClr val="F59E0B"/>
                </a:solidFill>
                <a:latin typeface="Segoe UI"/>
              </a:defRPr>
            </a:pPr>
            <a:r>
              <a:t>80%</a:t>
            </a:r>
          </a:p>
          <a:p>
            <a:pPr algn="ctr"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QA Capacity Freed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6126480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t>Prepared for Executive Review  |  August 2026  |  Baseline: 1 QA seat, RM5,000/month salary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4B8A6"/>
                </a:solidFill>
                <a:latin typeface="Calibri"/>
              </a:defRPr>
            </a:pPr>
            <a:r>
              <a:t>CURRENT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The Manual Testing Bottleneck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53312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Today's baseline QA throughput, before QM Pulse, per tester.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429000" cy="1737360"/>
          </a:xfrm>
          <a:prstGeom prst="roundRect">
            <a:avLst/>
          </a:prstGeom>
          <a:solidFill>
            <a:srgbClr val="16213A"/>
          </a:solidFill>
          <a:ln w="15240">
            <a:solidFill>
              <a:srgbClr val="2D41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31546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43F5E"/>
                </a:solidFill>
                <a:latin typeface="Segoe UI"/>
              </a:defRPr>
            </a:pPr>
            <a:r>
              <a:t>100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</a:defRPr>
            </a:pPr>
            <a:r>
              <a:t>Test Cases / Week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</a:defRPr>
            </a:pPr>
            <a:r>
              <a:t>Manual authoring &amp; execution pace per QA analyst.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920240"/>
            <a:ext cx="3429000" cy="1737360"/>
          </a:xfrm>
          <a:prstGeom prst="roundRect">
            <a:avLst/>
          </a:prstGeom>
          <a:solidFill>
            <a:srgbClr val="16213A"/>
          </a:solidFill>
          <a:ln w="15240">
            <a:solidFill>
              <a:srgbClr val="2D41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2057400"/>
            <a:ext cx="31546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43F5E"/>
                </a:solidFill>
                <a:latin typeface="Segoe UI"/>
              </a:defRPr>
            </a:pPr>
            <a:r>
              <a:t>20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</a:defRPr>
            </a:pPr>
            <a:r>
              <a:t>Test Cases / Day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</a:defRPr>
            </a:pPr>
            <a:r>
              <a:t>100 ÷ 5 working days — the effective daily ceiling.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920240"/>
            <a:ext cx="3429000" cy="1737360"/>
          </a:xfrm>
          <a:prstGeom prst="roundRect">
            <a:avLst/>
          </a:prstGeom>
          <a:solidFill>
            <a:srgbClr val="16213A"/>
          </a:solidFill>
          <a:ln w="15240">
            <a:solidFill>
              <a:srgbClr val="2D41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2057400"/>
            <a:ext cx="31546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43F5E"/>
                </a:solidFill>
                <a:latin typeface="Segoe UI"/>
              </a:defRPr>
            </a:pPr>
            <a:r>
              <a:t>24 min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</a:defRPr>
            </a:pPr>
            <a:r>
              <a:t>Per Test Case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</a:defRPr>
            </a:pPr>
            <a:r>
              <a:t>Average time to author, execute, and log one test case manually.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10698480" cy="2286000"/>
          </a:xfrm>
          <a:prstGeom prst="roundRect">
            <a:avLst/>
          </a:prstGeom>
          <a:solidFill>
            <a:srgbClr val="1E2C4C"/>
          </a:solidFill>
          <a:ln w="1524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114800"/>
            <a:ext cx="101498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4B8A6"/>
                </a:solidFill>
              </a:defRPr>
            </a:pPr>
            <a:r>
              <a:t>WHY THIS IS A BUSINESS RISK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Fixed capacity: QA output scales only by hiring, not by demand — every new project competes for the same 100 test cases/week.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Sprint-end crunch: manual authoring and Excel consolidation push execution into the final days before UAT sign-off.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Cost is linear: doubling test coverage means doubling headcount — RM5,000/month per additional QA analyst.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4B8A6"/>
                </a:solidFill>
                <a:latin typeface="Calibri"/>
              </a:defRPr>
            </a:pPr>
            <a:r>
              <a:t>THE QM PULSE SHIFT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5x Testing Throughput, Same Headcount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53312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AI-assisted authoring and one-click execution lift daily output from 20 to 100 test cases.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828800"/>
          <a:ext cx="521208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217920" y="1828800"/>
          <a:ext cx="5212080" cy="4206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4B8A6"/>
                </a:solidFill>
                <a:latin typeface="Calibri"/>
              </a:defRPr>
            </a:pPr>
            <a:r>
              <a:t>UNIT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Cost Per Test Case Falls 80%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53312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Same RM5,000 monthly salary, spread across 5x more completed test cases.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828800"/>
          <a:ext cx="603504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040880" y="1828800"/>
            <a:ext cx="4389120" cy="4297680"/>
          </a:xfrm>
          <a:prstGeom prst="roundRect">
            <a:avLst/>
          </a:prstGeom>
          <a:solidFill>
            <a:srgbClr val="1E2C4C"/>
          </a:solidFill>
          <a:ln w="1524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2057400"/>
            <a:ext cx="384048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4B8A6"/>
                </a:solidFill>
              </a:defRPr>
            </a:pPr>
            <a:r>
              <a:t>THE CALCULATION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Manual: RM5,000 ÷ 433 test cases/month</a:t>
            </a:r>
          </a:p>
          <a:p>
            <a:pPr>
              <a:spcBef>
                <a:spcPts val="200"/>
              </a:spcBef>
              <a:defRPr sz="1500" b="1">
                <a:solidFill>
                  <a:srgbClr val="06B6D4"/>
                </a:solidFill>
              </a:defRPr>
            </a:pPr>
            <a:r>
              <a:t>= RM11.55 / test case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QM Pulse: RM5,000 ÷ 2165 test cases/month</a:t>
            </a:r>
          </a:p>
          <a:p>
            <a:pPr>
              <a:spcBef>
                <a:spcPts val="200"/>
              </a:spcBef>
              <a:defRPr sz="1500" b="1">
                <a:solidFill>
                  <a:srgbClr val="06B6D4"/>
                </a:solidFill>
              </a:defRPr>
            </a:pPr>
            <a:r>
              <a:t>= RM2.31 / test case</a:t>
            </a:r>
          </a:p>
          <a:p>
            <a:pPr>
              <a:spcBef>
                <a:spcPts val="600"/>
              </a:spcBef>
            </a:pPr>
            <a:r>
              <a:t> </a:t>
            </a:r>
          </a:p>
          <a:p>
            <a:pPr>
              <a:spcBef>
                <a:spcPts val="1000"/>
              </a:spcBef>
              <a:defRPr sz="1500" b="1">
                <a:solidFill>
                  <a:srgbClr val="10B981"/>
                </a:solidFill>
              </a:defRPr>
            </a:pPr>
            <a:r>
              <a:t>Savings: RM9.24 per test case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→ 80% reduction in cost per test case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4B8A6"/>
                </a:solidFill>
                <a:latin typeface="Calibri"/>
              </a:defRPr>
            </a:pPr>
            <a:r>
              <a:t>HEADCOUNT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RM240,000 Avoided Per QM Pulse Seat, Per Year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53312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To manually match one QM Pulse analyst's monthly output (2165 test cases), you would need 5 QA analysts.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828800"/>
          <a:ext cx="603504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040880" y="1828800"/>
            <a:ext cx="4389120" cy="1325880"/>
          </a:xfrm>
          <a:prstGeom prst="roundRect">
            <a:avLst/>
          </a:prstGeom>
          <a:solidFill>
            <a:srgbClr val="16213A"/>
          </a:solidFill>
          <a:ln w="15240">
            <a:solidFill>
              <a:srgbClr val="2D41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78040" y="1965960"/>
            <a:ext cx="411480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59E0B"/>
                </a:solidFill>
                <a:latin typeface="Segoe UI"/>
              </a:defRPr>
            </a:pPr>
            <a:r>
              <a:t>4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</a:defRPr>
            </a:pPr>
            <a:r>
              <a:t>Extra Headcount Avoided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</a:defRPr>
            </a:pPr>
            <a:r>
              <a:t>per QM Pulse-equipped QA seat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0" y="3310128"/>
            <a:ext cx="4389120" cy="1325880"/>
          </a:xfrm>
          <a:prstGeom prst="roundRect">
            <a:avLst/>
          </a:prstGeom>
          <a:solidFill>
            <a:srgbClr val="16213A"/>
          </a:solidFill>
          <a:ln w="15240">
            <a:solidFill>
              <a:srgbClr val="2D41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78040" y="3447288"/>
            <a:ext cx="411480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0B981"/>
                </a:solidFill>
                <a:latin typeface="Segoe UI"/>
              </a:defRPr>
            </a:pPr>
            <a:r>
              <a:t>RM20,000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</a:defRPr>
            </a:pPr>
            <a:r>
              <a:t>Avoided Cost / Month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</a:defRPr>
            </a:pPr>
            <a:r>
              <a:t>4 FTE x RM5,000 salary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4791456"/>
            <a:ext cx="4389120" cy="1325880"/>
          </a:xfrm>
          <a:prstGeom prst="roundRect">
            <a:avLst/>
          </a:prstGeom>
          <a:solidFill>
            <a:srgbClr val="16213A"/>
          </a:solidFill>
          <a:ln w="15240">
            <a:solidFill>
              <a:srgbClr val="2D41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78040" y="4928616"/>
            <a:ext cx="411480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0B981"/>
                </a:solidFill>
                <a:latin typeface="Segoe UI"/>
              </a:defRPr>
            </a:pPr>
            <a:r>
              <a:t>RM240,000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</a:defRPr>
            </a:pPr>
            <a:r>
              <a:t>Avoided Cost / Year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</a:defRPr>
            </a:pPr>
            <a:r>
              <a:t>per QM Pulse seat, compounding across the team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4B8A6"/>
                </a:solidFill>
                <a:latin typeface="Calibri"/>
              </a:defRPr>
            </a:pPr>
            <a:r>
              <a:t>VALUE OVER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Cumulative Cost Avoidance — 12 Month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53312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RM20,000/month in avoided headcount cost compounds to RM240,000 in year one, per QM Pulse seat.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828800"/>
          <a:ext cx="1069848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4B8A6"/>
                </a:solidFill>
                <a:latin typeface="Calibri"/>
              </a:defRPr>
            </a:pPr>
            <a:r>
              <a:t>BEYOND TEST-CASE VOLUME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What Else QM Pulse Saves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53312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Value the salary-based ROI model above does not even capture.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64992" cy="1920240"/>
          </a:xfrm>
          <a:prstGeom prst="roundRect">
            <a:avLst/>
          </a:prstGeom>
          <a:solidFill>
            <a:srgbClr val="16213A"/>
          </a:solidFill>
          <a:ln w="15240">
            <a:solidFill>
              <a:srgbClr val="2D41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965960"/>
            <a:ext cx="3044952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14B8A6"/>
                </a:solidFill>
              </a:defRPr>
            </a:pPr>
            <a:r>
              <a:t>~40% FASTER TEST DESIGN</a:t>
            </a:r>
          </a:p>
          <a:p>
            <a:pPr>
              <a:spcBef>
                <a:spcPts val="500"/>
              </a:spcBef>
              <a:defRPr sz="1250" b="1">
                <a:solidFill>
                  <a:srgbClr val="F8FAFC"/>
                </a:solidFill>
              </a:defRPr>
            </a:pPr>
            <a:r>
              <a:t>AI Requirement Analyzer &amp; Test Generator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Google GenAI drafts test cases straight from requirements/user stories — analysts edit and approve rather than author from scratch.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33672" y="1828800"/>
            <a:ext cx="3364992" cy="1920240"/>
          </a:xfrm>
          <a:prstGeom prst="roundRect">
            <a:avLst/>
          </a:prstGeom>
          <a:solidFill>
            <a:srgbClr val="16213A"/>
          </a:solidFill>
          <a:ln w="15240">
            <a:solidFill>
              <a:srgbClr val="2D41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98264" y="1965960"/>
            <a:ext cx="3044952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06B6D4"/>
                </a:solidFill>
              </a:defRPr>
            </a:pPr>
            <a:r>
              <a:t>DAYS → UNDER 60 SECONDS</a:t>
            </a:r>
          </a:p>
          <a:p>
            <a:pPr>
              <a:spcBef>
                <a:spcPts val="500"/>
              </a:spcBef>
              <a:defRPr sz="1250" b="1">
                <a:solidFill>
                  <a:srgbClr val="F8FAFC"/>
                </a:solidFill>
              </a:defRPr>
            </a:pPr>
            <a:r>
              <a:t>Automated PMO Reporting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Review Log, Pareto Analysis, CAPA sheets and the PMO verdict email/PDF are generated automatically on save — no manual Excel consolidation.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35824" y="1828800"/>
            <a:ext cx="3364992" cy="1920240"/>
          </a:xfrm>
          <a:prstGeom prst="roundRect">
            <a:avLst/>
          </a:prstGeom>
          <a:solidFill>
            <a:srgbClr val="16213A"/>
          </a:solidFill>
          <a:ln w="15240">
            <a:solidFill>
              <a:srgbClr val="2D41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0416" y="1965960"/>
            <a:ext cx="3044952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6366F1"/>
                </a:solidFill>
              </a:defRPr>
            </a:pPr>
            <a:r>
              <a:t>ZERO DUPLICATE DATA ENTRY</a:t>
            </a:r>
          </a:p>
          <a:p>
            <a:pPr>
              <a:spcBef>
                <a:spcPts val="500"/>
              </a:spcBef>
              <a:defRPr sz="1250" b="1">
                <a:solidFill>
                  <a:srgbClr val="F8FAFC"/>
                </a:solidFill>
              </a:defRPr>
            </a:pPr>
            <a:r>
              <a:t>Automatic Defect Creation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A Failed test step creates a Redmine defect as a child issue automatically — testers never re-key the same failure twice.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3364992" cy="1920240"/>
          </a:xfrm>
          <a:prstGeom prst="roundRect">
            <a:avLst/>
          </a:prstGeom>
          <a:solidFill>
            <a:srgbClr val="16213A"/>
          </a:solidFill>
          <a:ln w="15240">
            <a:solidFill>
              <a:srgbClr val="2D41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069080"/>
            <a:ext cx="3044952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10B981"/>
                </a:solidFill>
              </a:defRPr>
            </a:pPr>
            <a:r>
              <a:t>100% REQUIREMENT-TO-DEFECT COVERAGE</a:t>
            </a:r>
          </a:p>
          <a:p>
            <a:pPr>
              <a:spcBef>
                <a:spcPts val="500"/>
              </a:spcBef>
              <a:defRPr sz="1250" b="1">
                <a:solidFill>
                  <a:srgbClr val="F8FAFC"/>
                </a:solidFill>
              </a:defRPr>
            </a:pPr>
            <a:r>
              <a:t>End-to-End Traceability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Every requirement, test case, execution and defect is linked — eliminating the cost of defects that leak past UAT into production.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33672" y="3931920"/>
            <a:ext cx="3364992" cy="1920240"/>
          </a:xfrm>
          <a:prstGeom prst="roundRect">
            <a:avLst/>
          </a:prstGeom>
          <a:solidFill>
            <a:srgbClr val="16213A"/>
          </a:solidFill>
          <a:ln w="15240">
            <a:solidFill>
              <a:srgbClr val="2D41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98264" y="4069080"/>
            <a:ext cx="3044952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F59E0B"/>
                </a:solidFill>
              </a:defRPr>
            </a:pPr>
            <a:r>
              <a:t>0 VERSION-CONFLICT REWORK</a:t>
            </a:r>
          </a:p>
          <a:p>
            <a:pPr>
              <a:spcBef>
                <a:spcPts val="500"/>
              </a:spcBef>
              <a:defRPr sz="1250" b="1">
                <a:solidFill>
                  <a:srgbClr val="F8FAFC"/>
                </a:solidFill>
              </a:defRPr>
            </a:pPr>
            <a:r>
              <a:t>Eliminated Spreadsheet Sprawl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One shared execution file per Redmine ticket replaces emailed Excel copies — no more reconciling whose version is current.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35824" y="3931920"/>
            <a:ext cx="3364992" cy="1920240"/>
          </a:xfrm>
          <a:prstGeom prst="roundRect">
            <a:avLst/>
          </a:prstGeom>
          <a:solidFill>
            <a:srgbClr val="16213A"/>
          </a:solidFill>
          <a:ln w="15240">
            <a:solidFill>
              <a:srgbClr val="2D41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0416" y="4069080"/>
            <a:ext cx="3044952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A855F7"/>
                </a:solidFill>
              </a:defRPr>
            </a:pPr>
            <a:r>
              <a:t>LOWER COMPLIANCE/AUDIT PREP COST</a:t>
            </a:r>
          </a:p>
          <a:p>
            <a:pPr>
              <a:spcBef>
                <a:spcPts val="500"/>
              </a:spcBef>
              <a:defRPr sz="1250" b="1">
                <a:solidFill>
                  <a:srgbClr val="F8FAFC"/>
                </a:solidFill>
              </a:defRPr>
            </a:pPr>
            <a:r>
              <a:t>Immutable Audit Trail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Every status change and sign-off is logged automatically, reducing the effort to reconstruct evidence for audits.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4B8A6"/>
                </a:solidFill>
                <a:latin typeface="Calibri"/>
              </a:defRPr>
            </a:pPr>
            <a: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Assumptions Behind These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53312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Transparent inputs so Finance and HR can validate or recalibrate this 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100"/>
              </a:spcBef>
            </a:pPr>
            <a:r>
              <a:rPr sz="1300" b="1">
                <a:solidFill>
                  <a:srgbClr val="14B8A6"/>
                </a:solidFill>
              </a:rPr>
              <a:t>Baseline QA salary:  </a:t>
            </a:r>
            <a:r>
              <a:rPr sz="1300">
                <a:solidFill>
                  <a:srgbClr val="F8FAFC"/>
                </a:solidFill>
              </a:rPr>
              <a:t>RM5,000 / month per QA analyst (as provided).</a:t>
            </a:r>
          </a:p>
          <a:p>
            <a:pPr>
              <a:spcBef>
                <a:spcPts val="1100"/>
              </a:spcBef>
            </a:pPr>
            <a:r>
              <a:rPr sz="1300" b="1">
                <a:solidFill>
                  <a:srgbClr val="14B8A6"/>
                </a:solidFill>
              </a:rPr>
              <a:t>Manual throughput:  </a:t>
            </a:r>
            <a:r>
              <a:rPr sz="1300">
                <a:solidFill>
                  <a:srgbClr val="F8FAFC"/>
                </a:solidFill>
              </a:rPr>
              <a:t>100 test cases / week, 5-day work week → 20 test cases / day.</a:t>
            </a:r>
          </a:p>
          <a:p>
            <a:pPr>
              <a:spcBef>
                <a:spcPts val="1100"/>
              </a:spcBef>
            </a:pPr>
            <a:r>
              <a:rPr sz="1300" b="1">
                <a:solidFill>
                  <a:srgbClr val="14B8A6"/>
                </a:solidFill>
              </a:rPr>
              <a:t>QM Pulse throughput:  </a:t>
            </a:r>
            <a:r>
              <a:rPr sz="1300">
                <a:solidFill>
                  <a:srgbClr val="F8FAFC"/>
                </a:solidFill>
              </a:rPr>
              <a:t>100 test cases / day (as provided), same 5-day work week.</a:t>
            </a:r>
          </a:p>
          <a:p>
            <a:pPr>
              <a:spcBef>
                <a:spcPts val="1100"/>
              </a:spcBef>
            </a:pPr>
            <a:r>
              <a:rPr sz="1300" b="1">
                <a:solidFill>
                  <a:srgbClr val="14B8A6"/>
                </a:solidFill>
              </a:rPr>
              <a:t>Month length:  </a:t>
            </a:r>
            <a:r>
              <a:rPr sz="1300">
                <a:solidFill>
                  <a:srgbClr val="F8FAFC"/>
                </a:solidFill>
              </a:rPr>
              <a:t>4.33 weeks / month (21.65 working days) — standard calendar averaging.</a:t>
            </a:r>
          </a:p>
          <a:p>
            <a:pPr>
              <a:spcBef>
                <a:spcPts val="1100"/>
              </a:spcBef>
            </a:pPr>
            <a:r>
              <a:rPr sz="1300" b="1">
                <a:solidFill>
                  <a:srgbClr val="14B8A6"/>
                </a:solidFill>
              </a:rPr>
              <a:t>Cost per test case:  </a:t>
            </a:r>
            <a:r>
              <a:rPr sz="1300">
                <a:solidFill>
                  <a:srgbClr val="F8FAFC"/>
                </a:solidFill>
              </a:rPr>
              <a:t>Monthly salary ÷ monthly test cases completed, same analyst, same salary.</a:t>
            </a:r>
          </a:p>
          <a:p>
            <a:pPr>
              <a:spcBef>
                <a:spcPts val="1100"/>
              </a:spcBef>
            </a:pPr>
            <a:r>
              <a:rPr sz="1300" b="1">
                <a:solidFill>
                  <a:srgbClr val="14B8A6"/>
                </a:solidFill>
              </a:rPr>
              <a:t>Headcount avoidance:  </a:t>
            </a:r>
            <a:r>
              <a:rPr sz="1300">
                <a:solidFill>
                  <a:srgbClr val="F8FAFC"/>
                </a:solidFill>
              </a:rPr>
              <a:t>Extra manual FTEs needed to match QM Pulse's monthly output, at the same RM5,000 salary each.</a:t>
            </a:r>
          </a:p>
          <a:p>
            <a:pPr>
              <a:spcBef>
                <a:spcPts val="1100"/>
              </a:spcBef>
            </a:pPr>
            <a:r>
              <a:rPr sz="1300" b="1">
                <a:solidFill>
                  <a:srgbClr val="14B8A6"/>
                </a:solidFill>
              </a:rPr>
              <a:t>Not included:  </a:t>
            </a:r>
            <a:r>
              <a:rPr sz="1300">
                <a:solidFill>
                  <a:srgbClr val="F8FAFC"/>
                </a:solidFill>
              </a:rPr>
              <a:t>QM Pulse licensing/build/hosting cost is not netted off — the figures above are gross value created, not net ROI %.</a:t>
            </a:r>
          </a:p>
          <a:p>
            <a:pPr>
              <a:spcBef>
                <a:spcPts val="1100"/>
              </a:spcBef>
            </a:pPr>
            <a:r>
              <a:rPr sz="1300" b="1">
                <a:solidFill>
                  <a:srgbClr val="14B8A6"/>
                </a:solidFill>
              </a:rPr>
              <a:t>Scaling:  </a:t>
            </a:r>
            <a:r>
              <a:rPr sz="1300">
                <a:solidFill>
                  <a:srgbClr val="F8FAFC"/>
                </a:solidFill>
              </a:rPr>
              <a:t>All figures are per QA seat — multiply by the number of QM Pulse-equipped analysts for team- or department-wide impact.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4B8A6"/>
                </a:solidFill>
                <a:latin typeface="Calibri"/>
              </a:defRPr>
            </a:pPr>
            <a:r>
              <a:t>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The Business Case Is Clear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53312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A 5x productivity gain and RM240,000/year in avoided cost, per QA seat.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10698480" cy="2103120"/>
          </a:xfrm>
          <a:prstGeom prst="roundRect">
            <a:avLst/>
          </a:prstGeom>
          <a:solidFill>
            <a:srgbClr val="1E2C4C"/>
          </a:solidFill>
          <a:ln w="1524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1498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4B8A6"/>
                </a:solidFill>
              </a:defRPr>
            </a:pPr>
            <a:r>
              <a:t>THE VERDICT</a:t>
            </a:r>
          </a:p>
          <a:p>
            <a:pPr>
              <a:spcBef>
                <a:spcPts val="800"/>
              </a:spcBef>
              <a:defRPr sz="1400">
                <a:solidFill>
                  <a:srgbClr val="F8FAFC"/>
                </a:solidFill>
              </a:defRPr>
            </a:pPr>
            <a:r>
              <a:t>Every QA analyst equipped with QM Pulse delivers the output of five, at one-fifth the cost per test case — worth RM240,000/year in avoided headcount alone, before counting faster test design, automated reporting, and full traceability.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97680"/>
            <a:ext cx="3429000" cy="1828800"/>
          </a:xfrm>
          <a:prstGeom prst="roundRect">
            <a:avLst/>
          </a:prstGeom>
          <a:solidFill>
            <a:srgbClr val="16213A"/>
          </a:solidFill>
          <a:ln w="15240">
            <a:solidFill>
              <a:srgbClr val="2D41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434840"/>
            <a:ext cx="30632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1.  Validate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Confirm salary bands and current QA headcount with Finance/HR to size the full team-wide savings.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4297680"/>
            <a:ext cx="3429000" cy="1828800"/>
          </a:xfrm>
          <a:prstGeom prst="roundRect">
            <a:avLst/>
          </a:prstGeom>
          <a:solidFill>
            <a:srgbClr val="16213A"/>
          </a:solidFill>
          <a:ln w="15240">
            <a:solidFill>
              <a:srgbClr val="2D41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4434840"/>
            <a:ext cx="30632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2.  Pilot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Track actual test cases/day for one sprint on 1-2 projects to confirm the 5x multiplier in practice.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4297680"/>
            <a:ext cx="3429000" cy="1828800"/>
          </a:xfrm>
          <a:prstGeom prst="roundRect">
            <a:avLst/>
          </a:prstGeom>
          <a:solidFill>
            <a:srgbClr val="16213A"/>
          </a:solidFill>
          <a:ln w="15240">
            <a:solidFill>
              <a:srgbClr val="2D41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4434840"/>
            <a:ext cx="30632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3.  Scale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Extend to the full QA team and fold the confirmed savings into the next budget cycle.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