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1512" y="822960"/>
            <a:ext cx="1371600" cy="1371600"/>
          </a:xfrm>
          <a:prstGeom prst="ellipse">
            <a:avLst/>
          </a:prstGeom>
          <a:solidFill>
            <a:srgbClr val="263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28" y="1179576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— NOT YET BUILT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77240" y="21945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CR031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77240" y="27889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 Defect Workflow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7947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path for when the requirement itself is wrong — from raise to resolution.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QAPulse — Engineering &amp; QA Team Briefing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we're closing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02920" y="14173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“something is wrong with this requirement” has exactly one outlet: rejecting it during FA review. That outlet closes the moment a requirement is approved.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02920" y="210312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CR030's dev handoff loop exposed the hole: a developer mid-implementation who hits an ambiguous or contradictory requirement has nothing structured to raise — no severity, no assignee, no record, no metric.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02920" y="3566160"/>
            <a:ext cx="2017166" cy="502920"/>
          </a:xfrm>
          <a:prstGeom prst="roundRect">
            <a:avLst>
              <a:gd name="adj" fmla="val 14545"/>
            </a:avLst>
          </a:prstGeom>
          <a:solidFill>
            <a:srgbClr val="F1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3566160"/>
            <a:ext cx="20171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520086" y="356616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794406" y="3566160"/>
            <a:ext cx="2017166" cy="502920"/>
          </a:xfrm>
          <a:prstGeom prst="roundRect">
            <a:avLst>
              <a:gd name="adj" fmla="val 14545"/>
            </a:avLst>
          </a:prstGeom>
          <a:solidFill>
            <a:srgbClr val="F1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94406" y="3566160"/>
            <a:ext cx="20171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Review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11573" y="356616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085893" y="3566160"/>
            <a:ext cx="2017166" cy="502920"/>
          </a:xfrm>
          <a:prstGeom prst="roundRect">
            <a:avLst>
              <a:gd name="adj" fmla="val 14545"/>
            </a:avLst>
          </a:prstGeom>
          <a:solidFill>
            <a:srgbClr val="02C39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85893" y="3566160"/>
            <a:ext cx="20171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103059" y="356616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377379" y="3566160"/>
            <a:ext cx="2017166" cy="502920"/>
          </a:xfrm>
          <a:prstGeom prst="roundRect">
            <a:avLst>
              <a:gd name="adj" fmla="val 14545"/>
            </a:avLst>
          </a:prstGeom>
          <a:solidFill>
            <a:srgbClr val="F1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77379" y="3566160"/>
            <a:ext cx="20171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In Progress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394546" y="356616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9668866" y="3566160"/>
            <a:ext cx="2017166" cy="502920"/>
          </a:xfrm>
          <a:prstGeom prst="roundRect">
            <a:avLst>
              <a:gd name="adj" fmla="val 14545"/>
            </a:avLst>
          </a:prstGeom>
          <a:solidFill>
            <a:srgbClr val="F1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68866" y="3566160"/>
            <a:ext cx="20171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QA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888736" y="301752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3" name="Text 20"/>
          <p:cNvSpPr/>
          <p:nvPr/>
        </p:nvSpPr>
        <p:spPr>
          <a:xfrm>
            <a:off x="5888736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502920" y="4343400"/>
            <a:ext cx="11183112" cy="1051560"/>
          </a:xfrm>
          <a:prstGeom prst="roundRect">
            <a:avLst>
              <a:gd name="adj" fmla="val 6957"/>
            </a:avLst>
          </a:prstGeom>
          <a:solidFill>
            <a:srgbClr val="F1F5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77240" y="4343400"/>
            <a:ext cx="10634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after “Approved” has no structured outlet for “the requirement is wrong” — until now.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CR031 — Requirement Defect Workflow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94283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FITS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defect flows, one shared entity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F1F5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943100" y="166420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521" y="1830629"/>
            <a:ext cx="307238" cy="30723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239572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Defect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777240" y="2926080"/>
            <a:ext cx="29718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14400" y="295351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914400" y="321868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member/lead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2125980" y="346557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77240" y="3639312"/>
            <a:ext cx="29718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14400" y="366674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914400" y="393192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→ Dev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2125980" y="41788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77240" y="4352544"/>
            <a:ext cx="29718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14400" y="437997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914400" y="464515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212598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777240" y="5065776"/>
            <a:ext cx="29718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14400" y="50932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914400" y="5358384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343400" y="1371600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F1F5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5783580" y="166420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0001" y="1830629"/>
            <a:ext cx="307238" cy="30723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4343400" y="239572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Defect</a:t>
            </a:r>
            <a:endParaRPr lang="en-US" sz="1700" dirty="0"/>
          </a:p>
        </p:txBody>
      </p:sp>
      <p:sp>
        <p:nvSpPr>
          <p:cNvPr id="29" name="Shape 24"/>
          <p:cNvSpPr/>
          <p:nvPr/>
        </p:nvSpPr>
        <p:spPr>
          <a:xfrm>
            <a:off x="4617720" y="2926080"/>
            <a:ext cx="29718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754880" y="295351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</a:t>
            </a:r>
            <a:endParaRPr lang="en-US" sz="1250" dirty="0"/>
          </a:p>
        </p:txBody>
      </p:sp>
      <p:sp>
        <p:nvSpPr>
          <p:cNvPr id="31" name="Text 26"/>
          <p:cNvSpPr/>
          <p:nvPr/>
        </p:nvSpPr>
        <p:spPr>
          <a:xfrm>
            <a:off x="4754880" y="321868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5966460" y="346557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4617720" y="3639312"/>
            <a:ext cx="29718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4754880" y="366674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1250" dirty="0"/>
          </a:p>
        </p:txBody>
      </p:sp>
      <p:sp>
        <p:nvSpPr>
          <p:cNvPr id="35" name="Text 30"/>
          <p:cNvSpPr/>
          <p:nvPr/>
        </p:nvSpPr>
        <p:spPr>
          <a:xfrm>
            <a:off x="4754880" y="393192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→ Dev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5966460" y="41788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4617720" y="4352544"/>
            <a:ext cx="29718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4754880" y="437997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250" dirty="0"/>
          </a:p>
        </p:txBody>
      </p:sp>
      <p:sp>
        <p:nvSpPr>
          <p:cNvPr id="39" name="Text 34"/>
          <p:cNvSpPr/>
          <p:nvPr/>
        </p:nvSpPr>
        <p:spPr>
          <a:xfrm>
            <a:off x="4754880" y="464515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000" dirty="0"/>
          </a:p>
        </p:txBody>
      </p:sp>
      <p:sp>
        <p:nvSpPr>
          <p:cNvPr id="40" name="Text 35"/>
          <p:cNvSpPr/>
          <p:nvPr/>
        </p:nvSpPr>
        <p:spPr>
          <a:xfrm>
            <a:off x="59664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41" name="Shape 36"/>
          <p:cNvSpPr/>
          <p:nvPr/>
        </p:nvSpPr>
        <p:spPr>
          <a:xfrm>
            <a:off x="4617720" y="5065776"/>
            <a:ext cx="29718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4754880" y="50932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250" dirty="0"/>
          </a:p>
        </p:txBody>
      </p:sp>
      <p:sp>
        <p:nvSpPr>
          <p:cNvPr id="43" name="Text 38"/>
          <p:cNvSpPr/>
          <p:nvPr/>
        </p:nvSpPr>
        <p:spPr>
          <a:xfrm>
            <a:off x="4754880" y="5358384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1371600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E6FBF6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45" name="Shape 40"/>
          <p:cNvSpPr/>
          <p:nvPr/>
        </p:nvSpPr>
        <p:spPr>
          <a:xfrm>
            <a:off x="9624060" y="1664208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4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0481" y="1830629"/>
            <a:ext cx="307238" cy="307238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8183880" y="239572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 Defect</a:t>
            </a:r>
            <a:endParaRPr lang="en-US" sz="1700" dirty="0"/>
          </a:p>
        </p:txBody>
      </p:sp>
      <p:sp>
        <p:nvSpPr>
          <p:cNvPr id="48" name="Shape 42"/>
          <p:cNvSpPr/>
          <p:nvPr/>
        </p:nvSpPr>
        <p:spPr>
          <a:xfrm>
            <a:off x="8458200" y="2926080"/>
            <a:ext cx="29718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8595360" y="295351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</a:t>
            </a:r>
            <a:endParaRPr lang="en-US" sz="1250" dirty="0"/>
          </a:p>
        </p:txBody>
      </p:sp>
      <p:sp>
        <p:nvSpPr>
          <p:cNvPr id="50" name="Text 44"/>
          <p:cNvSpPr/>
          <p:nvPr/>
        </p:nvSpPr>
        <p:spPr>
          <a:xfrm>
            <a:off x="8595360" y="321868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or QA</a:t>
            </a:r>
            <a:endParaRPr lang="en-US" sz="1000" dirty="0"/>
          </a:p>
        </p:txBody>
      </p:sp>
      <p:sp>
        <p:nvSpPr>
          <p:cNvPr id="51" name="Text 45"/>
          <p:cNvSpPr/>
          <p:nvPr/>
        </p:nvSpPr>
        <p:spPr>
          <a:xfrm>
            <a:off x="9806940" y="346557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52" name="Shape 46"/>
          <p:cNvSpPr/>
          <p:nvPr/>
        </p:nvSpPr>
        <p:spPr>
          <a:xfrm>
            <a:off x="8458200" y="3639312"/>
            <a:ext cx="29718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8595360" y="366674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Auto-route</a:t>
            </a:r>
            <a:endParaRPr lang="en-US" sz="1250" dirty="0"/>
          </a:p>
        </p:txBody>
      </p:sp>
      <p:sp>
        <p:nvSpPr>
          <p:cNvPr id="54" name="Text 48"/>
          <p:cNvSpPr/>
          <p:nvPr/>
        </p:nvSpPr>
        <p:spPr>
          <a:xfrm>
            <a:off x="8595360" y="393192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Author (FA)</a:t>
            </a:r>
            <a:endParaRPr lang="en-US" sz="1000" dirty="0"/>
          </a:p>
        </p:txBody>
      </p:sp>
      <p:sp>
        <p:nvSpPr>
          <p:cNvPr id="55" name="Text 49"/>
          <p:cNvSpPr/>
          <p:nvPr/>
        </p:nvSpPr>
        <p:spPr>
          <a:xfrm>
            <a:off x="9806940" y="41788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56" name="Shape 50"/>
          <p:cNvSpPr/>
          <p:nvPr/>
        </p:nvSpPr>
        <p:spPr>
          <a:xfrm>
            <a:off x="8458200" y="4352544"/>
            <a:ext cx="29718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7" name="Text 51"/>
          <p:cNvSpPr/>
          <p:nvPr/>
        </p:nvSpPr>
        <p:spPr>
          <a:xfrm>
            <a:off x="8595360" y="437997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&amp; resubmit</a:t>
            </a:r>
            <a:endParaRPr lang="en-US" sz="1250" dirty="0"/>
          </a:p>
        </p:txBody>
      </p:sp>
      <p:sp>
        <p:nvSpPr>
          <p:cNvPr id="58" name="Text 52"/>
          <p:cNvSpPr/>
          <p:nvPr/>
        </p:nvSpPr>
        <p:spPr>
          <a:xfrm>
            <a:off x="8595360" y="464515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review flow</a:t>
            </a:r>
            <a:endParaRPr lang="en-US" sz="1000" dirty="0"/>
          </a:p>
        </p:txBody>
      </p:sp>
      <p:sp>
        <p:nvSpPr>
          <p:cNvPr id="59" name="Text 53"/>
          <p:cNvSpPr/>
          <p:nvPr/>
        </p:nvSpPr>
        <p:spPr>
          <a:xfrm>
            <a:off x="980694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60" name="Shape 54"/>
          <p:cNvSpPr/>
          <p:nvPr/>
        </p:nvSpPr>
        <p:spPr>
          <a:xfrm>
            <a:off x="8458200" y="5065776"/>
            <a:ext cx="29718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1" name="Text 55"/>
          <p:cNvSpPr/>
          <p:nvPr/>
        </p:nvSpPr>
        <p:spPr>
          <a:xfrm>
            <a:off x="8595360" y="50932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Reassign</a:t>
            </a:r>
            <a:endParaRPr lang="en-US" sz="1250" dirty="0"/>
          </a:p>
        </p:txBody>
      </p:sp>
      <p:sp>
        <p:nvSpPr>
          <p:cNvPr id="62" name="Text 56"/>
          <p:cNvSpPr/>
          <p:nvPr/>
        </p:nvSpPr>
        <p:spPr>
          <a:xfrm>
            <a:off x="8595360" y="5358384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Dev or QA</a:t>
            </a:r>
            <a:endParaRPr lang="en-US" sz="1000" dirty="0"/>
          </a:p>
        </p:txBody>
      </p:sp>
      <p:sp>
        <p:nvSpPr>
          <p:cNvPr id="63" name="Text 57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CR031 — Requirement Defect Workflow</a:t>
            </a:r>
            <a:endParaRPr lang="en-US" sz="1000" dirty="0"/>
          </a:p>
        </p:txBody>
      </p:sp>
      <p:sp>
        <p:nvSpPr>
          <p:cNvPr id="64" name="Text 58"/>
          <p:cNvSpPr/>
          <p:nvPr/>
        </p:nvSpPr>
        <p:spPr>
          <a:xfrm>
            <a:off x="894283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LOOP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 defect: step by step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1301191" y="1920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1301191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02920" y="2487168"/>
            <a:ext cx="20537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02920" y="3017520"/>
            <a:ext cx="20537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or QA (member+lead) flags the approved requirement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556662" y="1938528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583534" y="19202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3583534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2785262" y="2487168"/>
            <a:ext cx="20537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Auto-route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2785262" y="3017520"/>
            <a:ext cx="20537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Assignee = requirement's own author — no Lead-tier gate needed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839005" y="1938528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5865876" y="1920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4"/>
          <p:cNvSpPr/>
          <p:nvPr/>
        </p:nvSpPr>
        <p:spPr>
          <a:xfrm>
            <a:off x="5865876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5067605" y="2487168"/>
            <a:ext cx="20537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&amp; resubmit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067605" y="3017520"/>
            <a:ext cx="20537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edits the requirement, resubmits via the existing review endpoint, unmodified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121347" y="1938528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8148218" y="1920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19"/>
          <p:cNvSpPr/>
          <p:nvPr/>
        </p:nvSpPr>
        <p:spPr>
          <a:xfrm>
            <a:off x="8148218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7349947" y="2487168"/>
            <a:ext cx="20537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re-approval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7349947" y="3017520"/>
            <a:ext cx="20537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FA/QA-lead approves — self-approval already blocked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9403690" y="1938528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Shape 23"/>
          <p:cNvSpPr/>
          <p:nvPr/>
        </p:nvSpPr>
        <p:spPr>
          <a:xfrm>
            <a:off x="10430561" y="19202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4"/>
          <p:cNvSpPr/>
          <p:nvPr/>
        </p:nvSpPr>
        <p:spPr>
          <a:xfrm>
            <a:off x="10430561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9632290" y="2487168"/>
            <a:ext cx="20537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Reassign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9632290" y="3017520"/>
            <a:ext cx="20537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routes it to Dev (code fix) or straight to QA (verify only)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02920" y="4892040"/>
            <a:ext cx="11183112" cy="960120"/>
          </a:xfrm>
          <a:prstGeom prst="roundRect">
            <a:avLst>
              <a:gd name="adj" fmla="val 9524"/>
            </a:avLst>
          </a:prstGeom>
          <a:solidFill>
            <a:srgbClr val="F1F5FC"/>
          </a:solidFill>
          <a:ln/>
        </p:spPr>
      </p:sp>
      <p:sp>
        <p:nvSpPr>
          <p:cNvPr id="31" name="Text 28"/>
          <p:cNvSpPr/>
          <p:nvPr/>
        </p:nvSpPr>
        <p:spPr>
          <a:xfrm>
            <a:off x="777240" y="4892040"/>
            <a:ext cx="10634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2 and 5 are the only genuinely new mechanics — everything else reuses what CR019/CR020/CR023/CR030 already built.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CR031 — Requirement Defect Workflow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894283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EFFICIENCY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was cheap to design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554480"/>
            <a:ext cx="11155680" cy="1280160"/>
          </a:xfrm>
          <a:prstGeom prst="roundRect">
            <a:avLst>
              <a:gd name="adj" fmla="val 7143"/>
            </a:avLst>
          </a:prstGeom>
          <a:solidFill>
            <a:srgbClr val="F1F5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rgbClr val="E6FBF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993392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847088"/>
            <a:ext cx="992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the existing defects entity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463040" y="2148840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table — same assignee, status, audit-log, and notification machinery every other defect already gets.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02920" y="3063240"/>
            <a:ext cx="11155680" cy="1280160"/>
          </a:xfrm>
          <a:prstGeom prst="roundRect">
            <a:avLst>
              <a:gd name="adj" fmla="val 7143"/>
            </a:avLst>
          </a:prstGeom>
          <a:solidFill>
            <a:srgbClr val="F1F5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77240" y="3383280"/>
            <a:ext cx="457200" cy="457200"/>
          </a:xfrm>
          <a:prstGeom prst="ellipse">
            <a:avLst/>
          </a:prstGeom>
          <a:solidFill>
            <a:srgbClr val="E6FBF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350215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355848"/>
            <a:ext cx="992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the review endpoint, unmodified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463040" y="3657600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/requirements/:id/review already accepts “submit” on an approved requirement, and already blocks self-approval.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02920" y="4572000"/>
            <a:ext cx="11155680" cy="1280160"/>
          </a:xfrm>
          <a:prstGeom prst="roundRect">
            <a:avLst>
              <a:gd name="adj" fmla="val 7143"/>
            </a:avLst>
          </a:prstGeom>
          <a:solidFill>
            <a:srgbClr val="F1F5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77240" y="4892040"/>
            <a:ext cx="457200" cy="457200"/>
          </a:xfrm>
          <a:prstGeom prst="ellipse">
            <a:avLst/>
          </a:prstGeom>
          <a:solidFill>
            <a:srgbClr val="E6FBF6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5010912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4864608"/>
            <a:ext cx="992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database migration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463040" y="5166360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and foundIn are free-text columns — new values (“requirement”, “Development”) need no ALTER TABLE.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CR031 — Requirement Defect Workflow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894283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SURFACE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actually new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554480"/>
            <a:ext cx="11155680" cy="1280160"/>
          </a:xfrm>
          <a:prstGeom prst="roundRect">
            <a:avLst>
              <a:gd name="adj" fmla="val 7143"/>
            </a:avLst>
          </a:prstGeom>
          <a:solidFill>
            <a:srgbClr val="E6FBF6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rgbClr val="E6FBF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993392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847088"/>
            <a:ext cx="992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Self-handoff on defect assignment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463040" y="2148840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assignee of a requirement defect can hand it off (to Dev or QA) without a Lead-tier gate — the first assignee is often a tier-1 FA member.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02920" y="3063240"/>
            <a:ext cx="11155680" cy="1280160"/>
          </a:xfrm>
          <a:prstGeom prst="roundRect">
            <a:avLst>
              <a:gd name="adj" fmla="val 7143"/>
            </a:avLst>
          </a:prstGeom>
          <a:solidFill>
            <a:srgbClr val="E6FBF6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77240" y="3383280"/>
            <a:ext cx="457200" cy="457200"/>
          </a:xfrm>
          <a:prstGeom prst="ellipse">
            <a:avLst/>
          </a:prstGeom>
          <a:solidFill>
            <a:srgbClr val="E6FBF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350215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355848"/>
            <a:ext cx="992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“Requirement” tab on Defects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463040" y="3657600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tabs match source exactly; without a 4th tab, requirement defects would be invisible on the page.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02920" y="4572000"/>
            <a:ext cx="11155680" cy="1280160"/>
          </a:xfrm>
          <a:prstGeom prst="roundRect">
            <a:avLst>
              <a:gd name="adj" fmla="val 7143"/>
            </a:avLst>
          </a:prstGeom>
          <a:solidFill>
            <a:srgbClr val="E6FBF6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77240" y="4892040"/>
            <a:ext cx="457200" cy="457200"/>
          </a:xfrm>
          <a:prstGeom prst="ellipse">
            <a:avLst/>
          </a:prstGeom>
          <a:solidFill>
            <a:srgbClr val="E6FBF6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5010912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4864608"/>
            <a:ext cx="992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“Requirement Defect” card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463040" y="5166360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Requirement Detail, mirroring CR030's Development card — raise button, linked defects, reassign control.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CR031 — Requirement Defect Workflow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894283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explicitly in vs. out for v1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55448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F1F5FC"/>
          </a:solidFill>
          <a:ln/>
        </p:spPr>
      </p:sp>
      <p:sp>
        <p:nvSpPr>
          <p:cNvPr id="7" name="Shape 4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" y="2005279"/>
            <a:ext cx="241402" cy="2414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192024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 — v1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22960" y="260604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a requirement defect during the review action itself.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822960" y="365760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Approve/reject at review time already covers that moment — this workflow is for problems discovered after approval.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309360" y="155448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E6FBF6"/>
          </a:solidFill>
          <a:ln/>
        </p:spPr>
      </p:sp>
      <p:sp>
        <p:nvSpPr>
          <p:cNvPr id="13" name="Shape 9"/>
          <p:cNvSpPr/>
          <p:nvPr/>
        </p:nvSpPr>
        <p:spPr>
          <a:xfrm>
            <a:off x="6583680" y="18745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4439" y="2005279"/>
            <a:ext cx="241402" cy="24140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223760" y="192024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Stretch — deferred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629400" y="260604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escapeClass value, “bad_requirement,” for production escape review.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629400" y="3657600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escape analysis distinguish “QA missed a real bug” from “the requirement itself was wrong.” Deferred until there's a production incident to validate the linkage against.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CR031 — Requirement Defect Workflow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894283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PLAN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order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508760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97280" y="14813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14800" y="148132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/defects source handling · assign self-handoff · GET /defects requirementId filter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216712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97280" y="213969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Detail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114800" y="213969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“Requirement Defect” card — the primary user-facing surface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2825496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2825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97280" y="279806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page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114800" y="279806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“Requirement” tab · self-handoff reassign gate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02920" y="348386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34838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97280" y="34564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list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114800" y="345643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 open defects” badge — optional fast-follow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02920" y="4279392"/>
            <a:ext cx="11155680" cy="1417320"/>
          </a:xfrm>
          <a:prstGeom prst="roundRect">
            <a:avLst>
              <a:gd name="adj" fmla="val 6452"/>
            </a:avLst>
          </a:prstGeom>
          <a:solidFill>
            <a:srgbClr val="F1F5FC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4434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touched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822960" y="4764024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artifacts/api-server/src/routes/defects.ts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artifacts/qa-pulse/src/pages/RequirementDetail.tsx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artifacts/qa-pulse/src/pages/Defects.tsx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artifacts/qa-pulse/src/pages/Requirements.tsx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CR031 — Requirement Defect Workflow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94283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174" y="657454"/>
            <a:ext cx="285293" cy="2852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30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7680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Planned — ready for build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6916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resolved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Raiser roles: explicit list — dev_member/dev_lead/hod_dev, qa_member/qa_lead/hod_qa, admin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Self-handoff carved into the existing assign endpoint, not a new route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309360" y="16916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team discussion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309360" y="210312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objection to auto-routing straight to the requirement's author?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missing before the backend slice starts?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5989320"/>
            <a:ext cx="11064240" cy="0"/>
          </a:xfrm>
          <a:prstGeom prst="line">
            <a:avLst/>
          </a:prstGeom>
          <a:noFill/>
          <a:ln w="12700">
            <a:solidFill>
              <a:srgbClr val="3A4A8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5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spec: CHANGE_REQUESTS.md — CR031 · Implementation plan reviewed and approved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CR031 — Requirement Defect Workflow</dc:title>
  <dc:subject>PptxGenJS Presentation</dc:subject>
  <dc:creator>QAPulse Engineering</dc:creator>
  <cp:lastModifiedBy>QAPulse Engineering</cp:lastModifiedBy>
  <cp:revision>1</cp:revision>
  <dcterms:created xsi:type="dcterms:W3CDTF">2026-07-06T01:13:02Z</dcterms:created>
  <dcterms:modified xsi:type="dcterms:W3CDTF">2026-07-06T01:13:02Z</dcterms:modified>
</cp:coreProperties>
</file>