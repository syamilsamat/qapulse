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"Good morning, Executive Leadership. Today, I am proud to present QM Pulse—our unified Quality Management platform.</a:t>
            </a:r>
          </a:p>
          <a:p>
            <a:r>
              <a:t>In software and product delivery, quality cannot simply be an afterthought or an isolated QA phase before release. QM Pulse connects the entire delivery chain: from the very first business requirement authored by Functional Analysts, through sprint build, QA test execution, and real-time PMO governance, straight to final go-live sign-off. It gives leadership 100% end-to-end visibility, guarantees compliance, eliminates spreadsheet chaos, and accelerates testing with built-in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"To understand why QM Pulse is vital, let us look at the industry's common bottleneck: tool sprawl.</a:t>
            </a:r>
          </a:p>
          <a:p>
            <a:r>
              <a:t>Currently, PMOs track in one tool, developers write in Redmine/Jira, FAs write specs in Word or Confluence, and QA runs test cases on spreadsheets. This leads to version skew, untracked defects, and eleventh-hour release panic. </a:t>
            </a:r>
          </a:p>
          <a:p>
            <a:r>
              <a:t>QM Pulse solves this by establishing one single operational pulse. We are not discarding Redmine—we are supercharging it with automated workflows, AI assistance, and instant executive analytics. Everything is transparent, tracked, and verifiable."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"Here is how QM Pulse serves every single leader in this room:</a:t>
            </a:r>
          </a:p>
          <a:p>
            <a:r>
              <a:t>- For our PMO: You open the milestone, assign capacity, track Schedule Performance Index (SPI), and manage risks.</a:t>
            </a:r>
          </a:p>
          <a:p>
            <a:r>
              <a:t>- For Functional Analysts: Requirements are captured with AI gap analysis, and peer-approval enforces segregation of duties.</a:t>
            </a:r>
          </a:p>
          <a:p>
            <a:r>
              <a:t>- For Dev Leads &amp; Developers: Tasks flow seamlessly from approved requirements to code with zero ambiguity.</a:t>
            </a:r>
          </a:p>
          <a:p>
            <a:r>
              <a:t>- For QA Teams: Test cases are pre-authored while dev is coding. The moment a build lands, test execution begins.</a:t>
            </a:r>
          </a:p>
          <a:p>
            <a:r>
              <a:t>- For the C-Suite: You get the macro-level pulse: release stability, first-pass yield, and automated audit trails."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"This 8-stage lifecycle is the core engine of QM Pulse. </a:t>
            </a:r>
          </a:p>
          <a:p>
            <a:r>
              <a:t>Notice the built-in governance gates: </a:t>
            </a:r>
          </a:p>
          <a:p>
            <a:r>
              <a:t>1. Segregation of Duties: A Functional Analyst can never sign off their own requirement—it must be peer-reviewed by a colleague in the same project.</a:t>
            </a:r>
          </a:p>
          <a:p>
            <a:r>
              <a:t>2. Parallel Acceleration: QA writes test cases during the build phase (Stage 5) so no time is wasted when code is deployed.</a:t>
            </a:r>
          </a:p>
          <a:p>
            <a:r>
              <a:t>3. Automated Defect Linking: When QA fails a step in Stage 6, a defect is automatically created in Redmine as a child ticket of the original requirement.</a:t>
            </a:r>
          </a:p>
          <a:p>
            <a:r>
              <a:t>4. Risk Management is active through all 8 stages, not just in stage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"Two strategic technological pillars set QM Pulse apart:</a:t>
            </a:r>
          </a:p>
          <a:p>
            <a:r>
              <a:t>1. We integrate seamlessly with Redmine. Many platforms force you to migrate data or rip out existing tracking. QM Pulse acts as a modern quality layer over Redmine, synchronizing in real time without overwriting history.</a:t>
            </a:r>
          </a:p>
          <a:p>
            <a:r>
              <a:t>2. We embed Google GenAI directly into the workflow. Instead of using AI as a gimmick, our AI Requirement Analyzer acts as an early quality gate to catch bad requirements before they reach development, while AI Test Generation cuts test design effort by over 40%."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"This slide demonstrates the complete depth of QM Pulse across 4 disciplines and 12 core modules. </a:t>
            </a:r>
          </a:p>
          <a:p>
            <a:r>
              <a:t>Whether it is milestone planning, test case management, defect analytics, or enterprise compliance, every team operates within the same governed environment. Notice the automated Excel generation: it automatically produces Review Effort logs, Pareto analysis, and CAPA corrective action sheets on demand."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"Governance and security are fundamental requirements for our leadership team. </a:t>
            </a:r>
          </a:p>
          <a:p>
            <a:r>
              <a:t>- Security &amp; Access: QM Pulse enforces 15 granular roles. PMO members get an executive portal; FAs and QA get specialized workspaces.</a:t>
            </a:r>
          </a:p>
          <a:p>
            <a:r>
              <a:t>- Compliance: Every test run, status flip, requirement edit, and sign-off is logged in an immutable audit trail.</a:t>
            </a:r>
          </a:p>
          <a:p>
            <a:r>
              <a:t>- One-Click Verdicts: Sending release sign-offs to PMO stakeholders takes one click—generating rich HTML emails, PDF certificates, and pre-formatted Excel deliverables with Pareto defect analysis and CAPA tracking."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"Let us talk about the business numbers and ROI for executive leadership:</a:t>
            </a:r>
          </a:p>
          <a:p>
            <a:r>
              <a:t>1. Efficiency: By generating test cases with Google GenAI, our QA team cuts test design effort by up to 40%.</a:t>
            </a:r>
          </a:p>
          <a:p>
            <a:r>
              <a:t>2. Zero Defect Leakage: 100% of requirements map to test executions and Redmine issues.</a:t>
            </a:r>
          </a:p>
          <a:p>
            <a:r>
              <a:t>3. Time Savings: PMO reporting cycles that used to take days of manual Excel merging now execute in under 60 seconds with automated verdict emails.</a:t>
            </a:r>
          </a:p>
          <a:p>
            <a:r>
              <a:t>4. Predictability: Leadership knows the exact health and stability of every milestone well before go-live."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NOTES FOR C-SUITE:</a:t>
            </a:r>
          </a:p>
          <a:p>
            <a:r>
              <a:t>"To conclude, our path forward is clear, low-risk, and structured:</a:t>
            </a:r>
          </a:p>
          <a:p>
            <a:r>
              <a:t>- We begin with a targeted 2-week pilot on two core projects to validate the workflow with zero operational disruption.</a:t>
            </a:r>
          </a:p>
          <a:p>
            <a:r>
              <a:t>- By Month 2, all teams will be unified under one automated quality standard.</a:t>
            </a:r>
          </a:p>
          <a:p>
            <a:r>
              <a:t>The software is live, tested, and fully functional today. Thank you for your time, and I now welcome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371600"/>
            <a:ext cx="2926080" cy="384048"/>
          </a:xfrm>
          <a:prstGeom prst="roundRect">
            <a:avLst/>
          </a:prstGeom>
          <a:solidFill>
            <a:srgbClr val="16213A"/>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B8A6"/>
                </a:solidFill>
              </a:defRPr>
            </a:pPr>
            <a:r>
              <a:t>●  EXECUTIVE STRATEGY PITCH</a:t>
            </a:r>
          </a:p>
        </p:txBody>
      </p:sp>
      <p:sp>
        <p:nvSpPr>
          <p:cNvPr id="5" name="TextBox 4"/>
          <p:cNvSpPr txBox="1"/>
          <p:nvPr/>
        </p:nvSpPr>
        <p:spPr>
          <a:xfrm>
            <a:off x="1097280" y="1965960"/>
            <a:ext cx="9875520" cy="1645920"/>
          </a:xfrm>
          <a:prstGeom prst="rect">
            <a:avLst/>
          </a:prstGeom>
          <a:noFill/>
        </p:spPr>
        <p:txBody>
          <a:bodyPr wrap="square" lIns="0" tIns="0" rIns="0" bIns="0">
            <a:spAutoFit/>
          </a:bodyPr>
          <a:lstStyle/>
          <a:p>
            <a:pPr>
              <a:defRPr sz="3800" b="1">
                <a:solidFill>
                  <a:srgbClr val="F8FAFC"/>
                </a:solidFill>
                <a:latin typeface="Segoe UI"/>
              </a:defRPr>
            </a:pPr>
            <a:r>
              <a:t>QM Pulse (Quality Management Pulse)</a:t>
            </a:r>
          </a:p>
          <a:p>
            <a:pPr>
              <a:spcBef>
                <a:spcPts val="800"/>
              </a:spcBef>
              <a:defRPr sz="2200">
                <a:solidFill>
                  <a:srgbClr val="06B6D4"/>
                </a:solidFill>
                <a:latin typeface="Segoe UI"/>
              </a:defRPr>
            </a:pPr>
            <a:r>
              <a:t>From First Requirement to Final Verdict — One Living Heartbeat.</a:t>
            </a:r>
          </a:p>
        </p:txBody>
      </p:sp>
      <p:sp>
        <p:nvSpPr>
          <p:cNvPr id="6" name="TextBox 5"/>
          <p:cNvSpPr txBox="1"/>
          <p:nvPr/>
        </p:nvSpPr>
        <p:spPr>
          <a:xfrm>
            <a:off x="1097280" y="3749039"/>
            <a:ext cx="9875520" cy="914400"/>
          </a:xfrm>
          <a:prstGeom prst="rect">
            <a:avLst/>
          </a:prstGeom>
          <a:noFill/>
        </p:spPr>
        <p:txBody>
          <a:bodyPr wrap="square" lIns="0" tIns="0" rIns="0" bIns="0">
            <a:spAutoFit/>
          </a:bodyPr>
          <a:lstStyle/>
          <a:p>
            <a:pPr>
              <a:defRPr sz="1500">
                <a:solidFill>
                  <a:srgbClr val="94A3B8"/>
                </a:solidFill>
                <a:latin typeface="Calibri"/>
              </a:defRPr>
            </a:pPr>
            <a:r>
              <a:t>A Next-Generation Delivery Quality &amp; Governance Platform uniting PMO, Functional Analysts, Developers, and QA into a single, automated, Redmine-synced and AI-accelerated ecosystem.</a:t>
            </a:r>
          </a:p>
        </p:txBody>
      </p:sp>
      <p:sp>
        <p:nvSpPr>
          <p:cNvPr id="7" name="Rounded Rectangle 6"/>
          <p:cNvSpPr/>
          <p:nvPr/>
        </p:nvSpPr>
        <p:spPr>
          <a:xfrm>
            <a:off x="1097280"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5029200"/>
            <a:ext cx="2103120" cy="914400"/>
          </a:xfrm>
          <a:prstGeom prst="rect">
            <a:avLst/>
          </a:prstGeom>
          <a:noFill/>
        </p:spPr>
        <p:txBody>
          <a:bodyPr wrap="square" lIns="0" rIns="0" tIns="0" bIns="0">
            <a:spAutoFit/>
          </a:bodyPr>
          <a:lstStyle/>
          <a:p>
            <a:pPr>
              <a:defRPr sz="2000" b="1">
                <a:solidFill>
                  <a:srgbClr val="14B8A6"/>
                </a:solidFill>
                <a:latin typeface="Segoe UI"/>
              </a:defRPr>
            </a:pPr>
            <a:r>
              <a:t>100%</a:t>
            </a:r>
          </a:p>
          <a:p>
            <a:pPr>
              <a:spcBef>
                <a:spcPts val="300"/>
              </a:spcBef>
              <a:defRPr sz="1100">
                <a:solidFill>
                  <a:srgbClr val="94A3B8"/>
                </a:solidFill>
                <a:latin typeface="Calibri"/>
              </a:defRPr>
            </a:pPr>
            <a:r>
              <a:t>End-to-End Traceability</a:t>
            </a:r>
          </a:p>
        </p:txBody>
      </p:sp>
      <p:sp>
        <p:nvSpPr>
          <p:cNvPr id="9" name="Rounded Rectangle 8"/>
          <p:cNvSpPr/>
          <p:nvPr/>
        </p:nvSpPr>
        <p:spPr>
          <a:xfrm>
            <a:off x="3657600"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94760" y="5029200"/>
            <a:ext cx="2103120" cy="914400"/>
          </a:xfrm>
          <a:prstGeom prst="rect">
            <a:avLst/>
          </a:prstGeom>
          <a:noFill/>
        </p:spPr>
        <p:txBody>
          <a:bodyPr wrap="square" lIns="0" rIns="0" tIns="0" bIns="0">
            <a:spAutoFit/>
          </a:bodyPr>
          <a:lstStyle/>
          <a:p>
            <a:pPr>
              <a:defRPr sz="2000" b="1">
                <a:solidFill>
                  <a:srgbClr val="14B8A6"/>
                </a:solidFill>
                <a:latin typeface="Segoe UI"/>
              </a:defRPr>
            </a:pPr>
            <a:r>
              <a:t>8 Stages</a:t>
            </a:r>
          </a:p>
          <a:p>
            <a:pPr>
              <a:spcBef>
                <a:spcPts val="300"/>
              </a:spcBef>
              <a:defRPr sz="1100">
                <a:solidFill>
                  <a:srgbClr val="94A3B8"/>
                </a:solidFill>
                <a:latin typeface="Calibri"/>
              </a:defRPr>
            </a:pPr>
            <a:r>
              <a:t>Unified Milestone Lifecycle</a:t>
            </a:r>
          </a:p>
        </p:txBody>
      </p:sp>
      <p:sp>
        <p:nvSpPr>
          <p:cNvPr id="11" name="Rounded Rectangle 10"/>
          <p:cNvSpPr/>
          <p:nvPr/>
        </p:nvSpPr>
        <p:spPr>
          <a:xfrm>
            <a:off x="6217920"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5029200"/>
            <a:ext cx="2103120" cy="914400"/>
          </a:xfrm>
          <a:prstGeom prst="rect">
            <a:avLst/>
          </a:prstGeom>
          <a:noFill/>
        </p:spPr>
        <p:txBody>
          <a:bodyPr wrap="square" lIns="0" rIns="0" tIns="0" bIns="0">
            <a:spAutoFit/>
          </a:bodyPr>
          <a:lstStyle/>
          <a:p>
            <a:pPr>
              <a:defRPr sz="2000" b="1">
                <a:solidFill>
                  <a:srgbClr val="14B8A6"/>
                </a:solidFill>
                <a:latin typeface="Segoe UI"/>
              </a:defRPr>
            </a:pPr>
            <a:r>
              <a:t>15 Roles</a:t>
            </a:r>
          </a:p>
          <a:p>
            <a:pPr>
              <a:spcBef>
                <a:spcPts val="300"/>
              </a:spcBef>
              <a:defRPr sz="1100">
                <a:solidFill>
                  <a:srgbClr val="94A3B8"/>
                </a:solidFill>
                <a:latin typeface="Calibri"/>
              </a:defRPr>
            </a:pPr>
            <a:r>
              <a:t>Strict RBAC Governance</a:t>
            </a:r>
          </a:p>
        </p:txBody>
      </p:sp>
      <p:sp>
        <p:nvSpPr>
          <p:cNvPr id="13" name="Rounded Rectangle 12"/>
          <p:cNvSpPr/>
          <p:nvPr/>
        </p:nvSpPr>
        <p:spPr>
          <a:xfrm>
            <a:off x="8778239" y="4937760"/>
            <a:ext cx="2377440" cy="10972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399" y="5029200"/>
            <a:ext cx="2103120" cy="914400"/>
          </a:xfrm>
          <a:prstGeom prst="rect">
            <a:avLst/>
          </a:prstGeom>
          <a:noFill/>
        </p:spPr>
        <p:txBody>
          <a:bodyPr wrap="square" lIns="0" rIns="0" tIns="0" bIns="0">
            <a:spAutoFit/>
          </a:bodyPr>
          <a:lstStyle/>
          <a:p>
            <a:pPr>
              <a:defRPr sz="2000" b="1">
                <a:solidFill>
                  <a:srgbClr val="14B8A6"/>
                </a:solidFill>
                <a:latin typeface="Segoe UI"/>
              </a:defRPr>
            </a:pPr>
            <a:r>
              <a:t>1 Source</a:t>
            </a:r>
          </a:p>
          <a:p>
            <a:pPr>
              <a:spcBef>
                <a:spcPts val="300"/>
              </a:spcBef>
              <a:defRPr sz="1100">
                <a:solidFill>
                  <a:srgbClr val="94A3B8"/>
                </a:solidFill>
                <a:latin typeface="Calibri"/>
              </a:defRPr>
            </a:pPr>
            <a:r>
              <a:t>Single Truth (Redmine +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STRATEGIC CONTEXT</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The Delivery Dilemma vs. The Unified Pulse</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Why traditional enterprise delivery breaks down—and how QM Pulse fixes it.</a:t>
            </a:r>
          </a:p>
        </p:txBody>
      </p:sp>
      <p:sp>
        <p:nvSpPr>
          <p:cNvPr id="6" name="Rounded Rectangle 5"/>
          <p:cNvSpPr/>
          <p:nvPr/>
        </p:nvSpPr>
        <p:spPr>
          <a:xfrm>
            <a:off x="731520" y="1828800"/>
            <a:ext cx="5120640" cy="4389120"/>
          </a:xfrm>
          <a:prstGeom prst="roundRect">
            <a:avLst/>
          </a:prstGeom>
          <a:solidFill>
            <a:srgbClr val="16213A"/>
          </a:solidFill>
          <a:ln w="15240">
            <a:solidFill>
              <a:srgbClr val="B4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011680"/>
            <a:ext cx="2011680" cy="320040"/>
          </a:xfrm>
          <a:prstGeom prst="roundRect">
            <a:avLst/>
          </a:prstGeom>
          <a:solidFill>
            <a:srgbClr val="3C1419"/>
          </a:solidFill>
          <a:ln>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43F5E"/>
                </a:solidFill>
              </a:defRPr>
            </a:pPr>
            <a:r>
              <a:t>CURRENT CHALLENGES</a:t>
            </a:r>
          </a:p>
        </p:txBody>
      </p:sp>
      <p:sp>
        <p:nvSpPr>
          <p:cNvPr id="8" name="TextBox 7"/>
          <p:cNvSpPr txBox="1"/>
          <p:nvPr/>
        </p:nvSpPr>
        <p:spPr>
          <a:xfrm>
            <a:off x="1005840" y="2468880"/>
            <a:ext cx="4572000" cy="3566160"/>
          </a:xfrm>
          <a:prstGeom prst="rect">
            <a:avLst/>
          </a:prstGeom>
          <a:noFill/>
        </p:spPr>
        <p:txBody>
          <a:bodyPr wrap="square" lIns="0" rIns="0" tIns="0" bIns="0">
            <a:spAutoFit/>
          </a:bodyPr>
          <a:lstStyle/>
          <a:p>
            <a:pPr>
              <a:defRPr sz="1300" b="1">
                <a:solidFill>
                  <a:srgbClr val="FB7185"/>
                </a:solidFill>
              </a:defRPr>
            </a:pPr>
            <a:r>
              <a:t>✕  Fragmented Silos</a:t>
            </a:r>
          </a:p>
          <a:p>
            <a:pPr>
              <a:spcBef>
                <a:spcPts val="200"/>
              </a:spcBef>
              <a:defRPr sz="1100">
                <a:solidFill>
                  <a:srgbClr val="94A3B8"/>
                </a:solidFill>
              </a:defRPr>
            </a:pPr>
            <a:r>
              <a:t>PMO, Functional Analysts, Devs, and QA work in disconnected tools, creating communication latency and missed handoffs.</a:t>
            </a:r>
          </a:p>
          <a:p>
            <a:pPr>
              <a:spcBef>
                <a:spcPts val="1000"/>
              </a:spcBef>
              <a:defRPr sz="1300" b="1">
                <a:solidFill>
                  <a:srgbClr val="FB7185"/>
                </a:solidFill>
              </a:defRPr>
            </a:pPr>
            <a:r>
              <a:t>✕  Spreadsheet &amp; Email Chaos</a:t>
            </a:r>
          </a:p>
          <a:p>
            <a:pPr>
              <a:spcBef>
                <a:spcPts val="200"/>
              </a:spcBef>
              <a:defRPr sz="1100">
                <a:solidFill>
                  <a:srgbClr val="94A3B8"/>
                </a:solidFill>
              </a:defRPr>
            </a:pPr>
            <a:r>
              <a:t>Test cases, execution trackers, and defect logs get passed around on Excel attachments with zero version control.</a:t>
            </a:r>
          </a:p>
          <a:p>
            <a:pPr>
              <a:spcBef>
                <a:spcPts val="1000"/>
              </a:spcBef>
              <a:defRPr sz="1300" b="1">
                <a:solidFill>
                  <a:srgbClr val="FB7185"/>
                </a:solidFill>
              </a:defRPr>
            </a:pPr>
            <a:r>
              <a:t>✕  Untracked Defect Drift</a:t>
            </a:r>
          </a:p>
          <a:p>
            <a:pPr>
              <a:spcBef>
                <a:spcPts val="200"/>
              </a:spcBef>
              <a:defRPr sz="1100">
                <a:solidFill>
                  <a:srgbClr val="94A3B8"/>
                </a:solidFill>
              </a:defRPr>
            </a:pPr>
            <a:r>
              <a:t>Defects discovered during testing are disconnected from Redmine tickets, causing rework loops and untracked scope.</a:t>
            </a:r>
          </a:p>
          <a:p>
            <a:pPr>
              <a:spcBef>
                <a:spcPts val="1000"/>
              </a:spcBef>
              <a:defRPr sz="1300" b="1">
                <a:solidFill>
                  <a:srgbClr val="FB7185"/>
                </a:solidFill>
              </a:defRPr>
            </a:pPr>
            <a:r>
              <a:t>✕  Blind Executive Oversight</a:t>
            </a:r>
          </a:p>
          <a:p>
            <a:pPr>
              <a:spcBef>
                <a:spcPts val="200"/>
              </a:spcBef>
              <a:defRPr sz="1100">
                <a:solidFill>
                  <a:srgbClr val="94A3B8"/>
                </a:solidFill>
              </a:defRPr>
            </a:pPr>
            <a:r>
              <a:t>PMO &amp; Leadership lack real-time SPI, first-pass yield, and release readiness data until it is too late to react.</a:t>
            </a:r>
          </a:p>
        </p:txBody>
      </p:sp>
      <p:sp>
        <p:nvSpPr>
          <p:cNvPr id="9" name="Rounded Rectangle 8"/>
          <p:cNvSpPr/>
          <p:nvPr/>
        </p:nvSpPr>
        <p:spPr>
          <a:xfrm>
            <a:off x="6217920" y="1828800"/>
            <a:ext cx="5212080" cy="4389120"/>
          </a:xfrm>
          <a:prstGeom prst="roundRect">
            <a:avLst/>
          </a:prstGeom>
          <a:solidFill>
            <a:srgbClr val="16213A"/>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2011680"/>
            <a:ext cx="2011680" cy="320040"/>
          </a:xfrm>
          <a:prstGeom prst="roundRect">
            <a:avLst/>
          </a:prstGeom>
          <a:solidFill>
            <a:srgbClr val="0A2D2D"/>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B8A6"/>
                </a:solidFill>
              </a:defRPr>
            </a:pPr>
            <a:r>
              <a:t>THE QM PULSE SOLUTION</a:t>
            </a:r>
          </a:p>
        </p:txBody>
      </p:sp>
      <p:sp>
        <p:nvSpPr>
          <p:cNvPr id="11" name="TextBox 10"/>
          <p:cNvSpPr txBox="1"/>
          <p:nvPr/>
        </p:nvSpPr>
        <p:spPr>
          <a:xfrm>
            <a:off x="6492240" y="2468880"/>
            <a:ext cx="4663440" cy="3566160"/>
          </a:xfrm>
          <a:prstGeom prst="rect">
            <a:avLst/>
          </a:prstGeom>
          <a:noFill/>
        </p:spPr>
        <p:txBody>
          <a:bodyPr wrap="square" lIns="0" rIns="0" tIns="0" bIns="0">
            <a:spAutoFit/>
          </a:bodyPr>
          <a:lstStyle/>
          <a:p>
            <a:pPr>
              <a:defRPr sz="1300" b="1">
                <a:solidFill>
                  <a:srgbClr val="14B8A6"/>
                </a:solidFill>
              </a:defRPr>
            </a:pPr>
            <a:r>
              <a:t>✓  Unified Living Heartbeat</a:t>
            </a:r>
          </a:p>
          <a:p>
            <a:pPr>
              <a:spcBef>
                <a:spcPts val="200"/>
              </a:spcBef>
              <a:defRPr sz="1100">
                <a:solidFill>
                  <a:srgbClr val="94A3B8"/>
                </a:solidFill>
              </a:defRPr>
            </a:pPr>
            <a:r>
              <a:t>Single shared system of record orchestrating PMO, FA, Dev, QA, and Leadership in real-time continuous sync.</a:t>
            </a:r>
          </a:p>
          <a:p>
            <a:pPr>
              <a:spcBef>
                <a:spcPts val="1000"/>
              </a:spcBef>
              <a:defRPr sz="1300" b="1">
                <a:solidFill>
                  <a:srgbClr val="14B8A6"/>
                </a:solidFill>
              </a:defRPr>
            </a:pPr>
            <a:r>
              <a:t>✓  Native Two-Way Redmine Sync</a:t>
            </a:r>
          </a:p>
          <a:p>
            <a:pPr>
              <a:spcBef>
                <a:spcPts val="200"/>
              </a:spcBef>
              <a:defRPr sz="1100">
                <a:solidFill>
                  <a:srgbClr val="94A3B8"/>
                </a:solidFill>
              </a:defRPr>
            </a:pPr>
            <a:r>
              <a:t>Integrates directly with enterprise Redmine; defects, requirements, and progress synchronize bi-directionally without disruption.</a:t>
            </a:r>
          </a:p>
          <a:p>
            <a:pPr>
              <a:spcBef>
                <a:spcPts val="1000"/>
              </a:spcBef>
              <a:defRPr sz="1300" b="1">
                <a:solidFill>
                  <a:srgbClr val="14B8A6"/>
                </a:solidFill>
              </a:defRPr>
            </a:pPr>
            <a:r>
              <a:t>✓  AI-Accelerated Quality Hub</a:t>
            </a:r>
          </a:p>
          <a:p>
            <a:pPr>
              <a:spcBef>
                <a:spcPts val="200"/>
              </a:spcBef>
              <a:defRPr sz="1100">
                <a:solidFill>
                  <a:srgbClr val="94A3B8"/>
                </a:solidFill>
              </a:defRPr>
            </a:pPr>
            <a:r>
              <a:t>Google GenAI analyzes requirements for ambiguities and auto-generates comprehensive test case matrices in seconds.</a:t>
            </a:r>
          </a:p>
          <a:p>
            <a:pPr>
              <a:spcBef>
                <a:spcPts val="1000"/>
              </a:spcBef>
              <a:defRPr sz="1300" b="1">
                <a:solidFill>
                  <a:srgbClr val="14B8A6"/>
                </a:solidFill>
              </a:defRPr>
            </a:pPr>
            <a:r>
              <a:t>✓  Executive Single Pane of Glass</a:t>
            </a:r>
          </a:p>
          <a:p>
            <a:pPr>
              <a:spcBef>
                <a:spcPts val="200"/>
              </a:spcBef>
              <a:defRPr sz="1100">
                <a:solidFill>
                  <a:srgbClr val="94A3B8"/>
                </a:solidFill>
              </a:defRPr>
            </a:pPr>
            <a:r>
              <a:t>Instant live metrics on Schedule Performance Index (SPI), stability, first-pass yield, and automated PMO verdict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STAKEHOLDER ALIGNMENT</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Five Delivery Teams. One Synchronized Cadence.</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Tailored operational views for every discipline on the same real-time data.</a:t>
            </a:r>
          </a:p>
        </p:txBody>
      </p:sp>
      <p:sp>
        <p:nvSpPr>
          <p:cNvPr id="6" name="Rounded Rectangle 5"/>
          <p:cNvSpPr/>
          <p:nvPr/>
        </p:nvSpPr>
        <p:spPr>
          <a:xfrm>
            <a:off x="73152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920240"/>
            <a:ext cx="2057400" cy="640080"/>
          </a:xfrm>
          <a:prstGeom prst="roundRect">
            <a:avLst/>
          </a:prstGeom>
          <a:solidFill>
            <a:srgbClr val="1E2C4C"/>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A855F7"/>
                </a:solidFill>
                <a:latin typeface="Calibri"/>
              </a:defRPr>
            </a:pPr>
            <a:r>
              <a:t>PROJECT &amp; PMO</a:t>
            </a:r>
          </a:p>
        </p:txBody>
      </p:sp>
      <p:sp>
        <p:nvSpPr>
          <p:cNvPr id="8" name="TextBox 7"/>
          <p:cNvSpPr txBox="1"/>
          <p:nvPr/>
        </p:nvSpPr>
        <p:spPr>
          <a:xfrm>
            <a:off x="82296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Own the Milestone</a:t>
            </a:r>
          </a:p>
          <a:p>
            <a:pPr>
              <a:spcBef>
                <a:spcPts val="600"/>
              </a:spcBef>
              <a:defRPr sz="1000">
                <a:solidFill>
                  <a:srgbClr val="94A3B8"/>
                </a:solidFill>
                <a:latin typeface="Calibri"/>
              </a:defRPr>
            </a:pPr>
            <a:r>
              <a:t>• Milestone &amp; sprint planning</a:t>
            </a:r>
          </a:p>
          <a:p>
            <a:pPr>
              <a:spcBef>
                <a:spcPts val="600"/>
              </a:spcBef>
              <a:defRPr sz="1000">
                <a:solidFill>
                  <a:srgbClr val="94A3B8"/>
                </a:solidFill>
                <a:latin typeface="Calibri"/>
              </a:defRPr>
            </a:pPr>
            <a:r>
              <a:t>• Environment &amp; capacity allocation</a:t>
            </a:r>
          </a:p>
          <a:p>
            <a:pPr>
              <a:spcBef>
                <a:spcPts val="600"/>
              </a:spcBef>
              <a:defRPr sz="1000">
                <a:solidFill>
                  <a:srgbClr val="94A3B8"/>
                </a:solidFill>
                <a:latin typeface="Calibri"/>
              </a:defRPr>
            </a:pPr>
            <a:r>
              <a:t>• Live schedule health &amp; SPI tracking</a:t>
            </a:r>
          </a:p>
          <a:p>
            <a:pPr>
              <a:spcBef>
                <a:spcPts val="600"/>
              </a:spcBef>
              <a:defRPr sz="1000">
                <a:solidFill>
                  <a:srgbClr val="94A3B8"/>
                </a:solidFill>
                <a:latin typeface="Calibri"/>
              </a:defRPr>
            </a:pPr>
            <a:r>
              <a:t>• Continuous risk &amp; mitigation log</a:t>
            </a:r>
          </a:p>
        </p:txBody>
      </p:sp>
      <p:sp>
        <p:nvSpPr>
          <p:cNvPr id="9" name="Rounded Rectangle 8"/>
          <p:cNvSpPr/>
          <p:nvPr/>
        </p:nvSpPr>
        <p:spPr>
          <a:xfrm>
            <a:off x="292608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26080" y="1920240"/>
            <a:ext cx="2057400" cy="640080"/>
          </a:xfrm>
          <a:prstGeom prst="roundRect">
            <a:avLst/>
          </a:prstGeom>
          <a:solidFill>
            <a:srgbClr val="1E2C4C"/>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6366F1"/>
                </a:solidFill>
                <a:latin typeface="Calibri"/>
              </a:defRPr>
            </a:pPr>
            <a:r>
              <a:t>FUNCTIONAL ANALYSTS</a:t>
            </a:r>
          </a:p>
        </p:txBody>
      </p:sp>
      <p:sp>
        <p:nvSpPr>
          <p:cNvPr id="11" name="TextBox 10"/>
          <p:cNvSpPr txBox="1"/>
          <p:nvPr/>
        </p:nvSpPr>
        <p:spPr>
          <a:xfrm>
            <a:off x="301752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Sharper Requirements</a:t>
            </a:r>
          </a:p>
          <a:p>
            <a:pPr>
              <a:spcBef>
                <a:spcPts val="600"/>
              </a:spcBef>
              <a:defRPr sz="1000">
                <a:solidFill>
                  <a:srgbClr val="94A3B8"/>
                </a:solidFill>
                <a:latin typeface="Calibri"/>
              </a:defRPr>
            </a:pPr>
            <a:r>
              <a:t>• Structured requirement authoring</a:t>
            </a:r>
          </a:p>
          <a:p>
            <a:pPr>
              <a:spcBef>
                <a:spcPts val="600"/>
              </a:spcBef>
              <a:defRPr sz="1000">
                <a:solidFill>
                  <a:srgbClr val="94A3B8"/>
                </a:solidFill>
                <a:latin typeface="Calibri"/>
              </a:defRPr>
            </a:pPr>
            <a:r>
              <a:t>• AI Requirement Analyzer (gap detection)</a:t>
            </a:r>
          </a:p>
          <a:p>
            <a:pPr>
              <a:spcBef>
                <a:spcPts val="600"/>
              </a:spcBef>
              <a:defRPr sz="1000">
                <a:solidFill>
                  <a:srgbClr val="94A3B8"/>
                </a:solidFill>
                <a:latin typeface="Calibri"/>
              </a:defRPr>
            </a:pPr>
            <a:r>
              <a:t>• Strict peer-review &amp; segregation</a:t>
            </a:r>
          </a:p>
          <a:p>
            <a:pPr>
              <a:spcBef>
                <a:spcPts val="600"/>
              </a:spcBef>
              <a:defRPr sz="1000">
                <a:solidFill>
                  <a:srgbClr val="94A3B8"/>
                </a:solidFill>
                <a:latin typeface="Calibri"/>
              </a:defRPr>
            </a:pPr>
            <a:r>
              <a:t>• Zero self-approvals enforced</a:t>
            </a:r>
          </a:p>
        </p:txBody>
      </p:sp>
      <p:sp>
        <p:nvSpPr>
          <p:cNvPr id="12" name="Rounded Rectangle 11"/>
          <p:cNvSpPr/>
          <p:nvPr/>
        </p:nvSpPr>
        <p:spPr>
          <a:xfrm>
            <a:off x="512064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20640" y="1920240"/>
            <a:ext cx="2057400" cy="640080"/>
          </a:xfrm>
          <a:prstGeom prst="roundRect">
            <a:avLst/>
          </a:prstGeom>
          <a:solidFill>
            <a:srgbClr val="1E2C4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06B6D4"/>
                </a:solidFill>
                <a:latin typeface="Calibri"/>
              </a:defRPr>
            </a:pPr>
            <a:r>
              <a:t>DEVELOPERS</a:t>
            </a:r>
          </a:p>
        </p:txBody>
      </p:sp>
      <p:sp>
        <p:nvSpPr>
          <p:cNvPr id="14" name="TextBox 13"/>
          <p:cNvSpPr txBox="1"/>
          <p:nvPr/>
        </p:nvSpPr>
        <p:spPr>
          <a:xfrm>
            <a:off x="521208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Build in Context</a:t>
            </a:r>
          </a:p>
          <a:p>
            <a:pPr>
              <a:spcBef>
                <a:spcPts val="600"/>
              </a:spcBef>
              <a:defRPr sz="1000">
                <a:solidFill>
                  <a:srgbClr val="94A3B8"/>
                </a:solidFill>
                <a:latin typeface="Calibri"/>
              </a:defRPr>
            </a:pPr>
            <a:r>
              <a:t>• Pick up approved specs directly</a:t>
            </a:r>
          </a:p>
          <a:p>
            <a:pPr>
              <a:spcBef>
                <a:spcPts val="600"/>
              </a:spcBef>
              <a:defRPr sz="1000">
                <a:solidFill>
                  <a:srgbClr val="94A3B8"/>
                </a:solidFill>
                <a:latin typeface="Calibri"/>
              </a:defRPr>
            </a:pPr>
            <a:r>
              <a:t>• Build with full requirement context</a:t>
            </a:r>
          </a:p>
          <a:p>
            <a:pPr>
              <a:spcBef>
                <a:spcPts val="600"/>
              </a:spcBef>
              <a:defRPr sz="1000">
                <a:solidFill>
                  <a:srgbClr val="94A3B8"/>
                </a:solidFill>
                <a:latin typeface="Calibri"/>
              </a:defRPr>
            </a:pPr>
            <a:r>
              <a:t>• 1-click status flip to 'For QA Test'</a:t>
            </a:r>
          </a:p>
          <a:p>
            <a:pPr>
              <a:spcBef>
                <a:spcPts val="600"/>
              </a:spcBef>
              <a:defRPr sz="1000">
                <a:solidFill>
                  <a:srgbClr val="94A3B8"/>
                </a:solidFill>
                <a:latin typeface="Calibri"/>
              </a:defRPr>
            </a:pPr>
            <a:r>
              <a:t>• Direct Redmine issue sync back</a:t>
            </a:r>
          </a:p>
        </p:txBody>
      </p:sp>
      <p:sp>
        <p:nvSpPr>
          <p:cNvPr id="15" name="Rounded Rectangle 14"/>
          <p:cNvSpPr/>
          <p:nvPr/>
        </p:nvSpPr>
        <p:spPr>
          <a:xfrm>
            <a:off x="7315199"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199" y="1920240"/>
            <a:ext cx="2057400" cy="640080"/>
          </a:xfrm>
          <a:prstGeom prst="roundRect">
            <a:avLst/>
          </a:prstGeom>
          <a:solidFill>
            <a:srgbClr val="1E2C4C"/>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14B8A6"/>
                </a:solidFill>
                <a:latin typeface="Calibri"/>
              </a:defRPr>
            </a:pPr>
            <a:r>
              <a:t>QA ENGINEERS</a:t>
            </a:r>
          </a:p>
        </p:txBody>
      </p:sp>
      <p:sp>
        <p:nvSpPr>
          <p:cNvPr id="17" name="TextBox 16"/>
          <p:cNvSpPr txBox="1"/>
          <p:nvPr/>
        </p:nvSpPr>
        <p:spPr>
          <a:xfrm>
            <a:off x="7406639"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Prove Every Path</a:t>
            </a:r>
          </a:p>
          <a:p>
            <a:pPr>
              <a:spcBef>
                <a:spcPts val="600"/>
              </a:spcBef>
              <a:defRPr sz="1000">
                <a:solidFill>
                  <a:srgbClr val="94A3B8"/>
                </a:solidFill>
                <a:latin typeface="Calibri"/>
              </a:defRPr>
            </a:pPr>
            <a:r>
              <a:t>• Author test cases during build phase</a:t>
            </a:r>
          </a:p>
          <a:p>
            <a:pPr>
              <a:spcBef>
                <a:spcPts val="600"/>
              </a:spcBef>
              <a:defRPr sz="1000">
                <a:solidFill>
                  <a:srgbClr val="94A3B8"/>
                </a:solidFill>
                <a:latin typeface="Calibri"/>
              </a:defRPr>
            </a:pPr>
            <a:r>
              <a:t>• AI-assisted test suite generation</a:t>
            </a:r>
          </a:p>
          <a:p>
            <a:pPr>
              <a:spcBef>
                <a:spcPts val="600"/>
              </a:spcBef>
              <a:defRPr sz="1000">
                <a:solidFill>
                  <a:srgbClr val="94A3B8"/>
                </a:solidFill>
                <a:latin typeface="Calibri"/>
              </a:defRPr>
            </a:pPr>
            <a:r>
              <a:t>• Environment-specific test runs</a:t>
            </a:r>
          </a:p>
          <a:p>
            <a:pPr>
              <a:spcBef>
                <a:spcPts val="600"/>
              </a:spcBef>
              <a:defRPr sz="1000">
                <a:solidFill>
                  <a:srgbClr val="94A3B8"/>
                </a:solidFill>
                <a:latin typeface="Calibri"/>
              </a:defRPr>
            </a:pPr>
            <a:r>
              <a:t>• Auto-raise Redmine defects on failure</a:t>
            </a:r>
          </a:p>
        </p:txBody>
      </p:sp>
      <p:sp>
        <p:nvSpPr>
          <p:cNvPr id="18" name="Rounded Rectangle 17"/>
          <p:cNvSpPr/>
          <p:nvPr/>
        </p:nvSpPr>
        <p:spPr>
          <a:xfrm>
            <a:off x="9509760" y="1920240"/>
            <a:ext cx="205740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09760" y="1920240"/>
            <a:ext cx="2057400" cy="640080"/>
          </a:xfrm>
          <a:prstGeom prst="roundRect">
            <a:avLst/>
          </a:prstGeom>
          <a:solidFill>
            <a:srgbClr val="1E2C4C"/>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000" b="1">
                <a:solidFill>
                  <a:srgbClr val="10B981"/>
                </a:solidFill>
                <a:latin typeface="Calibri"/>
              </a:defRPr>
            </a:pPr>
            <a:r>
              <a:t>C-SUITE &amp; LEADERSHIP</a:t>
            </a:r>
          </a:p>
        </p:txBody>
      </p:sp>
      <p:sp>
        <p:nvSpPr>
          <p:cNvPr id="20" name="TextBox 19"/>
          <p:cNvSpPr txBox="1"/>
          <p:nvPr/>
        </p:nvSpPr>
        <p:spPr>
          <a:xfrm>
            <a:off x="9601200" y="2651760"/>
            <a:ext cx="1874519" cy="3474720"/>
          </a:xfrm>
          <a:prstGeom prst="rect">
            <a:avLst/>
          </a:prstGeom>
          <a:noFill/>
        </p:spPr>
        <p:txBody>
          <a:bodyPr wrap="square" lIns="0" rIns="0" tIns="0" bIns="0">
            <a:spAutoFit/>
          </a:bodyPr>
          <a:lstStyle/>
          <a:p>
            <a:pPr>
              <a:defRPr sz="1300" b="1">
                <a:solidFill>
                  <a:srgbClr val="F8FAFC"/>
                </a:solidFill>
                <a:latin typeface="Segoe UI"/>
              </a:defRPr>
            </a:pPr>
            <a:r>
              <a:t>The Pulse at a Glance</a:t>
            </a:r>
          </a:p>
          <a:p>
            <a:pPr>
              <a:spcBef>
                <a:spcPts val="600"/>
              </a:spcBef>
              <a:defRPr sz="1000">
                <a:solidFill>
                  <a:srgbClr val="94A3B8"/>
                </a:solidFill>
                <a:latin typeface="Calibri"/>
              </a:defRPr>
            </a:pPr>
            <a:r>
              <a:t>• Single-screen executive dashboard</a:t>
            </a:r>
          </a:p>
          <a:p>
            <a:pPr>
              <a:spcBef>
                <a:spcPts val="600"/>
              </a:spcBef>
              <a:defRPr sz="1000">
                <a:solidFill>
                  <a:srgbClr val="94A3B8"/>
                </a:solidFill>
                <a:latin typeface="Calibri"/>
              </a:defRPr>
            </a:pPr>
            <a:r>
              <a:t>• First-pass rate &amp; defect stability</a:t>
            </a:r>
          </a:p>
          <a:p>
            <a:pPr>
              <a:spcBef>
                <a:spcPts val="600"/>
              </a:spcBef>
              <a:defRPr sz="1000">
                <a:solidFill>
                  <a:srgbClr val="94A3B8"/>
                </a:solidFill>
                <a:latin typeface="Calibri"/>
              </a:defRPr>
            </a:pPr>
            <a:r>
              <a:t>• Automated PMO verdict emails/PDFs</a:t>
            </a:r>
          </a:p>
          <a:p>
            <a:pPr>
              <a:spcBef>
                <a:spcPts val="600"/>
              </a:spcBef>
              <a:defRPr sz="1000">
                <a:solidFill>
                  <a:srgbClr val="94A3B8"/>
                </a:solidFill>
                <a:latin typeface="Calibri"/>
              </a:defRPr>
            </a:pPr>
            <a:r>
              <a:t>• Audit-ready compliance &amp; Pareto logs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END-TO-END WORKFLOW</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The 8 Beats of a Milestone Lifecycle</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From intake to go-live sign-off with enforced segregation of duties and automated gates.</a:t>
            </a:r>
          </a:p>
        </p:txBody>
      </p:sp>
      <p:sp>
        <p:nvSpPr>
          <p:cNvPr id="6" name="Rounded Rectangle 5"/>
          <p:cNvSpPr/>
          <p:nvPr/>
        </p:nvSpPr>
        <p:spPr>
          <a:xfrm>
            <a:off x="73152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57400"/>
            <a:ext cx="384048" cy="384048"/>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01</a:t>
            </a:r>
          </a:p>
        </p:txBody>
      </p:sp>
      <p:sp>
        <p:nvSpPr>
          <p:cNvPr id="8" name="TextBox 7"/>
          <p:cNvSpPr txBox="1"/>
          <p:nvPr/>
        </p:nvSpPr>
        <p:spPr>
          <a:xfrm>
            <a:off x="132588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Plan Milestone</a:t>
            </a:r>
          </a:p>
          <a:p>
            <a:pPr>
              <a:spcBef>
                <a:spcPts val="200"/>
              </a:spcBef>
              <a:defRPr sz="1000" b="1">
                <a:solidFill>
                  <a:srgbClr val="A855F7"/>
                </a:solidFill>
                <a:latin typeface="Calibri"/>
              </a:defRPr>
            </a:pPr>
            <a:r>
              <a:t>Owner: PMO</a:t>
            </a:r>
          </a:p>
          <a:p>
            <a:pPr>
              <a:spcBef>
                <a:spcPts val="400"/>
              </a:spcBef>
              <a:defRPr sz="1000">
                <a:solidFill>
                  <a:srgbClr val="94A3B8"/>
                </a:solidFill>
                <a:latin typeface="Calibri"/>
              </a:defRPr>
            </a:pPr>
            <a:r>
              <a:t>Define milestone scope, target dates, environments &amp; capacity allocation.</a:t>
            </a:r>
          </a:p>
        </p:txBody>
      </p:sp>
      <p:sp>
        <p:nvSpPr>
          <p:cNvPr id="9" name="Rounded Rectangle 8"/>
          <p:cNvSpPr/>
          <p:nvPr/>
        </p:nvSpPr>
        <p:spPr>
          <a:xfrm>
            <a:off x="342900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66160" y="2057400"/>
            <a:ext cx="384048" cy="384048"/>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02</a:t>
            </a:r>
          </a:p>
        </p:txBody>
      </p:sp>
      <p:sp>
        <p:nvSpPr>
          <p:cNvPr id="11" name="TextBox 10"/>
          <p:cNvSpPr txBox="1"/>
          <p:nvPr/>
        </p:nvSpPr>
        <p:spPr>
          <a:xfrm>
            <a:off x="402336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Author Specs</a:t>
            </a:r>
          </a:p>
          <a:p>
            <a:pPr>
              <a:spcBef>
                <a:spcPts val="200"/>
              </a:spcBef>
              <a:defRPr sz="1000" b="1">
                <a:solidFill>
                  <a:srgbClr val="A855F7"/>
                </a:solidFill>
                <a:latin typeface="Calibri"/>
              </a:defRPr>
            </a:pPr>
            <a:r>
              <a:t>Owner: FA + AI</a:t>
            </a:r>
          </a:p>
          <a:p>
            <a:pPr>
              <a:spcBef>
                <a:spcPts val="400"/>
              </a:spcBef>
              <a:defRPr sz="1000">
                <a:solidFill>
                  <a:srgbClr val="94A3B8"/>
                </a:solidFill>
                <a:latin typeface="Calibri"/>
              </a:defRPr>
            </a:pPr>
            <a:r>
              <a:t>Capture requirements; AI Analyzer flags ambiguities and untestable logic.</a:t>
            </a:r>
          </a:p>
        </p:txBody>
      </p:sp>
      <p:sp>
        <p:nvSpPr>
          <p:cNvPr id="12" name="Rounded Rectangle 11"/>
          <p:cNvSpPr/>
          <p:nvPr/>
        </p:nvSpPr>
        <p:spPr>
          <a:xfrm>
            <a:off x="612648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63640" y="2057400"/>
            <a:ext cx="384048" cy="38404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03</a:t>
            </a:r>
          </a:p>
        </p:txBody>
      </p:sp>
      <p:sp>
        <p:nvSpPr>
          <p:cNvPr id="14" name="TextBox 13"/>
          <p:cNvSpPr txBox="1"/>
          <p:nvPr/>
        </p:nvSpPr>
        <p:spPr>
          <a:xfrm>
            <a:off x="672084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Peer-Approve</a:t>
            </a:r>
          </a:p>
          <a:p>
            <a:pPr>
              <a:spcBef>
                <a:spcPts val="200"/>
              </a:spcBef>
              <a:defRPr sz="1000" b="1">
                <a:solidFill>
                  <a:srgbClr val="6366F1"/>
                </a:solidFill>
                <a:latin typeface="Calibri"/>
              </a:defRPr>
            </a:pPr>
            <a:r>
              <a:t>Owner: FA Reviewer</a:t>
            </a:r>
          </a:p>
          <a:p>
            <a:pPr>
              <a:spcBef>
                <a:spcPts val="400"/>
              </a:spcBef>
              <a:defRPr sz="1000">
                <a:solidFill>
                  <a:srgbClr val="94A3B8"/>
                </a:solidFill>
                <a:latin typeface="Calibri"/>
              </a:defRPr>
            </a:pPr>
            <a:r>
              <a:t>Peer review enforced; strict segregation prevents self-sign-offs.</a:t>
            </a:r>
          </a:p>
        </p:txBody>
      </p:sp>
      <p:sp>
        <p:nvSpPr>
          <p:cNvPr id="15" name="Rounded Rectangle 14"/>
          <p:cNvSpPr/>
          <p:nvPr/>
        </p:nvSpPr>
        <p:spPr>
          <a:xfrm>
            <a:off x="8823960" y="192024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61120" y="2057400"/>
            <a:ext cx="384048" cy="384048"/>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04</a:t>
            </a:r>
          </a:p>
        </p:txBody>
      </p:sp>
      <p:sp>
        <p:nvSpPr>
          <p:cNvPr id="17" name="TextBox 16"/>
          <p:cNvSpPr txBox="1"/>
          <p:nvPr/>
        </p:nvSpPr>
        <p:spPr>
          <a:xfrm>
            <a:off x="9418320" y="2029968"/>
            <a:ext cx="1874519" cy="1691640"/>
          </a:xfrm>
          <a:prstGeom prst="rect">
            <a:avLst/>
          </a:prstGeom>
          <a:noFill/>
        </p:spPr>
        <p:txBody>
          <a:bodyPr wrap="square" lIns="0" rIns="0" tIns="0" bIns="0">
            <a:spAutoFit/>
          </a:bodyPr>
          <a:lstStyle/>
          <a:p>
            <a:pPr>
              <a:defRPr sz="1300" b="1">
                <a:solidFill>
                  <a:srgbClr val="F8FAFC"/>
                </a:solidFill>
                <a:latin typeface="Segoe UI"/>
              </a:defRPr>
            </a:pPr>
            <a:r>
              <a:t>Assign &amp; Build</a:t>
            </a:r>
          </a:p>
          <a:p>
            <a:pPr>
              <a:spcBef>
                <a:spcPts val="200"/>
              </a:spcBef>
              <a:defRPr sz="1000" b="1">
                <a:solidFill>
                  <a:srgbClr val="6366F1"/>
                </a:solidFill>
                <a:latin typeface="Calibri"/>
              </a:defRPr>
            </a:pPr>
            <a:r>
              <a:t>Owner: Dev Lead / Dev</a:t>
            </a:r>
          </a:p>
          <a:p>
            <a:pPr>
              <a:spcBef>
                <a:spcPts val="400"/>
              </a:spcBef>
              <a:defRPr sz="1000">
                <a:solidFill>
                  <a:srgbClr val="94A3B8"/>
                </a:solidFill>
                <a:latin typeface="Calibri"/>
              </a:defRPr>
            </a:pPr>
            <a:r>
              <a:t>Dev builds against approved specs; flips ticket to 'For QA Test'.</a:t>
            </a:r>
          </a:p>
        </p:txBody>
      </p:sp>
      <p:sp>
        <p:nvSpPr>
          <p:cNvPr id="18" name="Rounded Rectangle 17"/>
          <p:cNvSpPr/>
          <p:nvPr/>
        </p:nvSpPr>
        <p:spPr>
          <a:xfrm>
            <a:off x="73152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4160520"/>
            <a:ext cx="384048" cy="384048"/>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05</a:t>
            </a:r>
          </a:p>
        </p:txBody>
      </p:sp>
      <p:sp>
        <p:nvSpPr>
          <p:cNvPr id="20" name="TextBox 19"/>
          <p:cNvSpPr txBox="1"/>
          <p:nvPr/>
        </p:nvSpPr>
        <p:spPr>
          <a:xfrm>
            <a:off x="132588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Author Tests</a:t>
            </a:r>
          </a:p>
          <a:p>
            <a:pPr>
              <a:spcBef>
                <a:spcPts val="200"/>
              </a:spcBef>
              <a:defRPr sz="1000" b="1">
                <a:solidFill>
                  <a:srgbClr val="06B6D4"/>
                </a:solidFill>
                <a:latin typeface="Calibri"/>
              </a:defRPr>
            </a:pPr>
            <a:r>
              <a:t>Owner: QA + AI</a:t>
            </a:r>
          </a:p>
          <a:p>
            <a:pPr>
              <a:spcBef>
                <a:spcPts val="400"/>
              </a:spcBef>
              <a:defRPr sz="1000">
                <a:solidFill>
                  <a:srgbClr val="94A3B8"/>
                </a:solidFill>
                <a:latin typeface="Calibri"/>
              </a:defRPr>
            </a:pPr>
            <a:r>
              <a:t>Test cases authored in parallel with build; AI generates full edge cases.</a:t>
            </a:r>
          </a:p>
        </p:txBody>
      </p:sp>
      <p:sp>
        <p:nvSpPr>
          <p:cNvPr id="21" name="Rounded Rectangle 20"/>
          <p:cNvSpPr/>
          <p:nvPr/>
        </p:nvSpPr>
        <p:spPr>
          <a:xfrm>
            <a:off x="342900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566160" y="4160520"/>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06</a:t>
            </a:r>
          </a:p>
        </p:txBody>
      </p:sp>
      <p:sp>
        <p:nvSpPr>
          <p:cNvPr id="23" name="TextBox 22"/>
          <p:cNvSpPr txBox="1"/>
          <p:nvPr/>
        </p:nvSpPr>
        <p:spPr>
          <a:xfrm>
            <a:off x="402336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Execute Testing</a:t>
            </a:r>
          </a:p>
          <a:p>
            <a:pPr>
              <a:spcBef>
                <a:spcPts val="200"/>
              </a:spcBef>
              <a:defRPr sz="1000" b="1">
                <a:solidFill>
                  <a:srgbClr val="14B8A6"/>
                </a:solidFill>
                <a:latin typeface="Calibri"/>
              </a:defRPr>
            </a:pPr>
            <a:r>
              <a:t>Owner: QA Engineers</a:t>
            </a:r>
          </a:p>
          <a:p>
            <a:pPr>
              <a:spcBef>
                <a:spcPts val="400"/>
              </a:spcBef>
              <a:defRPr sz="1000">
                <a:solidFill>
                  <a:srgbClr val="94A3B8"/>
                </a:solidFill>
                <a:latin typeface="Calibri"/>
              </a:defRPr>
            </a:pPr>
            <a:r>
              <a:t>Environment-level execution; failing steps auto-raise Redmine child defects.</a:t>
            </a:r>
          </a:p>
        </p:txBody>
      </p:sp>
      <p:sp>
        <p:nvSpPr>
          <p:cNvPr id="24" name="Rounded Rectangle 23"/>
          <p:cNvSpPr/>
          <p:nvPr/>
        </p:nvSpPr>
        <p:spPr>
          <a:xfrm>
            <a:off x="612648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263640" y="4160520"/>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07</a:t>
            </a:r>
          </a:p>
        </p:txBody>
      </p:sp>
      <p:sp>
        <p:nvSpPr>
          <p:cNvPr id="26" name="TextBox 25"/>
          <p:cNvSpPr txBox="1"/>
          <p:nvPr/>
        </p:nvSpPr>
        <p:spPr>
          <a:xfrm>
            <a:off x="672084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Track &amp; Close</a:t>
            </a:r>
          </a:p>
          <a:p>
            <a:pPr>
              <a:spcBef>
                <a:spcPts val="200"/>
              </a:spcBef>
              <a:defRPr sz="1000" b="1">
                <a:solidFill>
                  <a:srgbClr val="14B8A6"/>
                </a:solidFill>
                <a:latin typeface="Calibri"/>
              </a:defRPr>
            </a:pPr>
            <a:r>
              <a:t>Owner: QA Lead</a:t>
            </a:r>
          </a:p>
          <a:p>
            <a:pPr>
              <a:spcBef>
                <a:spcPts val="400"/>
              </a:spcBef>
              <a:defRPr sz="1000">
                <a:solidFill>
                  <a:srgbClr val="94A3B8"/>
                </a:solidFill>
                <a:latin typeface="Calibri"/>
              </a:defRPr>
            </a:pPr>
            <a:r>
              <a:t>Real-time pass/fail/blocked analytics and blocker resolution.</a:t>
            </a:r>
          </a:p>
        </p:txBody>
      </p:sp>
      <p:sp>
        <p:nvSpPr>
          <p:cNvPr id="27" name="Rounded Rectangle 26"/>
          <p:cNvSpPr/>
          <p:nvPr/>
        </p:nvSpPr>
        <p:spPr>
          <a:xfrm>
            <a:off x="8823960" y="4023360"/>
            <a:ext cx="2560320" cy="192024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961120" y="4160520"/>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120"/>
                </a:solidFill>
              </a:defRPr>
            </a:pPr>
            <a:r>
              <a:t>08</a:t>
            </a:r>
          </a:p>
        </p:txBody>
      </p:sp>
      <p:sp>
        <p:nvSpPr>
          <p:cNvPr id="29" name="TextBox 28"/>
          <p:cNvSpPr txBox="1"/>
          <p:nvPr/>
        </p:nvSpPr>
        <p:spPr>
          <a:xfrm>
            <a:off x="9418320" y="4133088"/>
            <a:ext cx="1874519" cy="1691640"/>
          </a:xfrm>
          <a:prstGeom prst="rect">
            <a:avLst/>
          </a:prstGeom>
          <a:noFill/>
        </p:spPr>
        <p:txBody>
          <a:bodyPr wrap="square" lIns="0" rIns="0" tIns="0" bIns="0">
            <a:spAutoFit/>
          </a:bodyPr>
          <a:lstStyle/>
          <a:p>
            <a:pPr>
              <a:defRPr sz="1300" b="1">
                <a:solidFill>
                  <a:srgbClr val="F8FAFC"/>
                </a:solidFill>
                <a:latin typeface="Segoe UI"/>
              </a:defRPr>
            </a:pPr>
            <a:r>
              <a:t>UAT &amp; Go-Live</a:t>
            </a:r>
          </a:p>
          <a:p>
            <a:pPr>
              <a:spcBef>
                <a:spcPts val="200"/>
              </a:spcBef>
              <a:defRPr sz="1000" b="1">
                <a:solidFill>
                  <a:srgbClr val="10B981"/>
                </a:solidFill>
                <a:latin typeface="Calibri"/>
              </a:defRPr>
            </a:pPr>
            <a:r>
              <a:t>Owner: UAT &amp; PMO</a:t>
            </a:r>
          </a:p>
          <a:p>
            <a:pPr>
              <a:spcBef>
                <a:spcPts val="400"/>
              </a:spcBef>
              <a:defRPr sz="1000">
                <a:solidFill>
                  <a:srgbClr val="94A3B8"/>
                </a:solidFill>
                <a:latin typeface="Calibri"/>
              </a:defRPr>
            </a:pPr>
            <a:r>
              <a:t>Business UAT sign-off, milestone close, and automated lessons learned capture.</a:t>
            </a:r>
          </a:p>
        </p:txBody>
      </p:sp>
      <p:sp>
        <p:nvSpPr>
          <p:cNvPr id="30" name="Rounded Rectangle 29"/>
          <p:cNvSpPr/>
          <p:nvPr/>
        </p:nvSpPr>
        <p:spPr>
          <a:xfrm>
            <a:off x="731520" y="6172200"/>
            <a:ext cx="10698480" cy="384048"/>
          </a:xfrm>
          <a:prstGeom prst="roundRect">
            <a:avLst/>
          </a:prstGeom>
          <a:solidFill>
            <a:srgbClr val="1E2C4C"/>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B8A6"/>
                </a:solidFill>
              </a:defRPr>
            </a:pPr>
            <a:r>
              <a:t>⚡ RUNNING THROUGH EVERY BEAT:  Instant Smart Notifications  |  Dynamic Risk Register  |  Continuous Lessons Learned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TECHNOLOGY BACKBONE</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Deep Redmine Integration &amp; The Enterprise AI Hub</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Zero disruption to existing systems of record, multiplied by intelligent GenAI assistance.</a:t>
            </a:r>
          </a:p>
        </p:txBody>
      </p:sp>
      <p:sp>
        <p:nvSpPr>
          <p:cNvPr id="6" name="Rounded Rectangle 5"/>
          <p:cNvSpPr/>
          <p:nvPr/>
        </p:nvSpPr>
        <p:spPr>
          <a:xfrm>
            <a:off x="731520" y="1828800"/>
            <a:ext cx="5166360" cy="4389120"/>
          </a:xfrm>
          <a:prstGeom prst="roundRect">
            <a:avLst/>
          </a:prstGeom>
          <a:solidFill>
            <a:srgbClr val="16213A"/>
          </a:solidFill>
          <a:ln w="1524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011680"/>
            <a:ext cx="2194560" cy="320040"/>
          </a:xfrm>
          <a:prstGeom prst="roundRect">
            <a:avLst/>
          </a:prstGeom>
          <a:solidFill>
            <a:srgbClr val="1E1B4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A5B4FC"/>
                </a:solidFill>
              </a:defRPr>
            </a:pPr>
            <a:r>
              <a:t>DEEP REDMINE INTEGRATION</a:t>
            </a:r>
          </a:p>
        </p:txBody>
      </p:sp>
      <p:sp>
        <p:nvSpPr>
          <p:cNvPr id="8" name="TextBox 7"/>
          <p:cNvSpPr txBox="1"/>
          <p:nvPr/>
        </p:nvSpPr>
        <p:spPr>
          <a:xfrm>
            <a:off x="1005840" y="2468880"/>
            <a:ext cx="4617720" cy="3566160"/>
          </a:xfrm>
          <a:prstGeom prst="rect">
            <a:avLst/>
          </a:prstGeom>
          <a:noFill/>
        </p:spPr>
        <p:txBody>
          <a:bodyPr wrap="square" lIns="0" rIns="0" tIns="0" bIns="0">
            <a:spAutoFit/>
          </a:bodyPr>
          <a:lstStyle/>
          <a:p>
            <a:pPr>
              <a:defRPr sz="1200" b="1">
                <a:solidFill>
                  <a:srgbClr val="A5B4FC"/>
                </a:solidFill>
              </a:defRPr>
            </a:pPr>
            <a:r>
              <a:t>◆  Non-Disruptive Adoption</a:t>
            </a:r>
          </a:p>
          <a:p>
            <a:pPr>
              <a:spcBef>
                <a:spcPts val="200"/>
              </a:spcBef>
              <a:defRPr sz="1100">
                <a:solidFill>
                  <a:srgbClr val="94A3B8"/>
                </a:solidFill>
              </a:defRPr>
            </a:pPr>
            <a:r>
              <a:t>QM Pulse leverages your existing Redmine installation—no costly data migrations or team re-training required.</a:t>
            </a:r>
          </a:p>
          <a:p>
            <a:pPr>
              <a:spcBef>
                <a:spcPts val="800"/>
              </a:spcBef>
              <a:defRPr sz="1200" b="1">
                <a:solidFill>
                  <a:srgbClr val="A5B4FC"/>
                </a:solidFill>
              </a:defRPr>
            </a:pPr>
            <a:r>
              <a:t>◆  Two-Way Real-Time Synchronization</a:t>
            </a:r>
          </a:p>
          <a:p>
            <a:pPr>
              <a:spcBef>
                <a:spcPts val="200"/>
              </a:spcBef>
              <a:defRPr sz="1100">
                <a:solidFill>
                  <a:srgbClr val="94A3B8"/>
                </a:solidFill>
              </a:defRPr>
            </a:pPr>
            <a:r>
              <a:t>Requirements and tickets import with full hierarchy; defects and status transitions write straight back.</a:t>
            </a:r>
          </a:p>
          <a:p>
            <a:pPr>
              <a:spcBef>
                <a:spcPts val="800"/>
              </a:spcBef>
              <a:defRPr sz="1200" b="1">
                <a:solidFill>
                  <a:srgbClr val="A5B4FC"/>
                </a:solidFill>
              </a:defRPr>
            </a:pPr>
            <a:r>
              <a:t>◆  Safe Insert-Only Sync Architecture</a:t>
            </a:r>
          </a:p>
          <a:p>
            <a:pPr>
              <a:spcBef>
                <a:spcPts val="200"/>
              </a:spcBef>
              <a:defRPr sz="1100">
                <a:solidFill>
                  <a:srgbClr val="94A3B8"/>
                </a:solidFill>
              </a:defRPr>
            </a:pPr>
            <a:r>
              <a:t>Existing Redmine data is never overwritten or clobbered; project custom fields map seamlessly.</a:t>
            </a:r>
          </a:p>
          <a:p>
            <a:pPr>
              <a:spcBef>
                <a:spcPts val="800"/>
              </a:spcBef>
              <a:defRPr sz="1200" b="1">
                <a:solidFill>
                  <a:srgbClr val="A5B4FC"/>
                </a:solidFill>
              </a:defRPr>
            </a:pPr>
            <a:r>
              <a:t>◆  Auto-Defect Creation on Test Failure</a:t>
            </a:r>
          </a:p>
          <a:p>
            <a:pPr>
              <a:spcBef>
                <a:spcPts val="200"/>
              </a:spcBef>
              <a:defRPr sz="1100">
                <a:solidFill>
                  <a:srgbClr val="94A3B8"/>
                </a:solidFill>
              </a:defRPr>
            </a:pPr>
            <a:r>
              <a:t>One click converts a failed test step into a fully populated Redmine defect with logs and attachments.</a:t>
            </a:r>
          </a:p>
        </p:txBody>
      </p:sp>
      <p:sp>
        <p:nvSpPr>
          <p:cNvPr id="9" name="Rounded Rectangle 8"/>
          <p:cNvSpPr/>
          <p:nvPr/>
        </p:nvSpPr>
        <p:spPr>
          <a:xfrm>
            <a:off x="6263640" y="1828800"/>
            <a:ext cx="5166360" cy="4389120"/>
          </a:xfrm>
          <a:prstGeom prst="roundRect">
            <a:avLst/>
          </a:prstGeom>
          <a:solidFill>
            <a:srgbClr val="16213A"/>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011680"/>
            <a:ext cx="2194560" cy="320040"/>
          </a:xfrm>
          <a:prstGeom prst="roundRect">
            <a:avLst/>
          </a:prstGeom>
          <a:solidFill>
            <a:srgbClr val="06282D"/>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B8A6"/>
                </a:solidFill>
              </a:defRPr>
            </a:pPr>
            <a:r>
              <a:t>THE ENTERPRISE AI HUB</a:t>
            </a:r>
          </a:p>
        </p:txBody>
      </p:sp>
      <p:sp>
        <p:nvSpPr>
          <p:cNvPr id="11" name="TextBox 10"/>
          <p:cNvSpPr txBox="1"/>
          <p:nvPr/>
        </p:nvSpPr>
        <p:spPr>
          <a:xfrm>
            <a:off x="6537960" y="2468880"/>
            <a:ext cx="4617720" cy="3566160"/>
          </a:xfrm>
          <a:prstGeom prst="rect">
            <a:avLst/>
          </a:prstGeom>
          <a:noFill/>
        </p:spPr>
        <p:txBody>
          <a:bodyPr wrap="square" lIns="0" rIns="0" tIns="0" bIns="0">
            <a:spAutoFit/>
          </a:bodyPr>
          <a:lstStyle/>
          <a:p>
            <a:pPr>
              <a:defRPr sz="1200" b="1">
                <a:solidFill>
                  <a:srgbClr val="14B8A6"/>
                </a:solidFill>
              </a:defRPr>
            </a:pPr>
            <a:r>
              <a:t>✦  AI Requirement Analyzer</a:t>
            </a:r>
          </a:p>
          <a:p>
            <a:pPr>
              <a:spcBef>
                <a:spcPts val="200"/>
              </a:spcBef>
              <a:defRPr sz="1100">
                <a:solidFill>
                  <a:srgbClr val="94A3B8"/>
                </a:solidFill>
              </a:defRPr>
            </a:pPr>
            <a:r>
              <a:t>Evaluates functional specs before development starts; flags ambiguities, missing edge cases, and untestable logic.</a:t>
            </a:r>
          </a:p>
          <a:p>
            <a:pPr>
              <a:spcBef>
                <a:spcPts val="800"/>
              </a:spcBef>
              <a:defRPr sz="1200" b="1">
                <a:solidFill>
                  <a:srgbClr val="14B8A6"/>
                </a:solidFill>
              </a:defRPr>
            </a:pPr>
            <a:r>
              <a:t>✦  Automated Test Case Generation</a:t>
            </a:r>
          </a:p>
          <a:p>
            <a:pPr>
              <a:spcBef>
                <a:spcPts val="200"/>
              </a:spcBef>
              <a:defRPr sz="1100">
                <a:solidFill>
                  <a:srgbClr val="94A3B8"/>
                </a:solidFill>
              </a:defRPr>
            </a:pPr>
            <a:r>
              <a:t>Generates comprehensive, multi-step test cases from user stories with expected results and boundary values.</a:t>
            </a:r>
          </a:p>
          <a:p>
            <a:pPr>
              <a:spcBef>
                <a:spcPts val="800"/>
              </a:spcBef>
              <a:defRPr sz="1200" b="1">
                <a:solidFill>
                  <a:srgbClr val="14B8A6"/>
                </a:solidFill>
              </a:defRPr>
            </a:pPr>
            <a:r>
              <a:t>✦  QA Copilot Workspace Assistant</a:t>
            </a:r>
          </a:p>
          <a:p>
            <a:pPr>
              <a:spcBef>
                <a:spcPts val="200"/>
              </a:spcBef>
              <a:defRPr sz="1100">
                <a:solidFill>
                  <a:srgbClr val="94A3B8"/>
                </a:solidFill>
              </a:defRPr>
            </a:pPr>
            <a:r>
              <a:t>Natural-language assistant answering queries across test suites, execution history, and delivery metrics.</a:t>
            </a:r>
          </a:p>
          <a:p>
            <a:pPr>
              <a:spcBef>
                <a:spcPts val="800"/>
              </a:spcBef>
              <a:defRPr sz="1200" b="1">
                <a:solidFill>
                  <a:srgbClr val="14B8A6"/>
                </a:solidFill>
              </a:defRPr>
            </a:pPr>
            <a:r>
              <a:t>✦  Requirement Chat &amp; Refinement</a:t>
            </a:r>
          </a:p>
          <a:p>
            <a:pPr>
              <a:spcBef>
                <a:spcPts val="200"/>
              </a:spcBef>
              <a:defRPr sz="1100">
                <a:solidFill>
                  <a:srgbClr val="94A3B8"/>
                </a:solidFill>
              </a:defRPr>
            </a:pPr>
            <a:r>
              <a:t>Conversational requirement refinement allowing FAs and QA to challenge and perfect specifications.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PLATFORM BREADTH</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Enterprise Capabilities Across 4 Core Disciplines</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12 integrated modules delivering an end-to-end quality and governance command center.</a:t>
            </a:r>
          </a:p>
        </p:txBody>
      </p:sp>
      <p:sp>
        <p:nvSpPr>
          <p:cNvPr id="6" name="Rounded Rectangle 5"/>
          <p:cNvSpPr/>
          <p:nvPr/>
        </p:nvSpPr>
        <p:spPr>
          <a:xfrm>
            <a:off x="73152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57400"/>
            <a:ext cx="2377440" cy="365760"/>
          </a:xfrm>
          <a:prstGeom prst="roundRect">
            <a:avLst/>
          </a:prstGeom>
          <a:solidFill>
            <a:srgbClr val="1E2C4C"/>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855F7"/>
                </a:solidFill>
              </a:defRPr>
            </a:pPr>
            <a:r>
              <a:t>PLAN &amp; GOVERN</a:t>
            </a:r>
          </a:p>
        </p:txBody>
      </p:sp>
      <p:sp>
        <p:nvSpPr>
          <p:cNvPr id="8" name="TextBox 7"/>
          <p:cNvSpPr txBox="1"/>
          <p:nvPr/>
        </p:nvSpPr>
        <p:spPr>
          <a:xfrm>
            <a:off x="841248" y="2560320"/>
            <a:ext cx="2331720" cy="3566160"/>
          </a:xfrm>
          <a:prstGeom prst="rect">
            <a:avLst/>
          </a:prstGeom>
          <a:noFill/>
        </p:spPr>
        <p:txBody>
          <a:bodyPr wrap="square" lIns="0" rIns="0" tIns="0" bIns="0">
            <a:spAutoFit/>
          </a:bodyPr>
          <a:lstStyle/>
          <a:p>
            <a:pPr>
              <a:defRPr sz="1200" b="1">
                <a:solidFill>
                  <a:srgbClr val="F8FAFC"/>
                </a:solidFill>
              </a:defRPr>
            </a:pPr>
            <a:r>
              <a:t>✔ Milestones &amp; Sprints</a:t>
            </a:r>
          </a:p>
          <a:p>
            <a:pPr>
              <a:spcBef>
                <a:spcPts val="200"/>
              </a:spcBef>
              <a:defRPr sz="1000">
                <a:solidFill>
                  <a:srgbClr val="94A3B8"/>
                </a:solidFill>
              </a:defRPr>
            </a:pPr>
            <a:r>
              <a:t>Scope, environment targets, and real-time schedule health.</a:t>
            </a:r>
          </a:p>
          <a:p>
            <a:pPr>
              <a:spcBef>
                <a:spcPts val="1000"/>
              </a:spcBef>
              <a:defRPr sz="1200" b="1">
                <a:solidFill>
                  <a:srgbClr val="F8FAFC"/>
                </a:solidFill>
              </a:defRPr>
            </a:pPr>
            <a:r>
              <a:t>✔ Resource Allocation</a:t>
            </a:r>
          </a:p>
          <a:p>
            <a:pPr>
              <a:spcBef>
                <a:spcPts val="200"/>
              </a:spcBef>
              <a:defRPr sz="1000">
                <a:solidFill>
                  <a:srgbClr val="94A3B8"/>
                </a:solidFill>
              </a:defRPr>
            </a:pPr>
            <a:r>
              <a:t>Capacity visibility to spot team bottlenecks before they cause delays.</a:t>
            </a:r>
          </a:p>
          <a:p>
            <a:pPr>
              <a:spcBef>
                <a:spcPts val="1000"/>
              </a:spcBef>
              <a:defRPr sz="1200" b="1">
                <a:solidFill>
                  <a:srgbClr val="F8FAFC"/>
                </a:solidFill>
              </a:defRPr>
            </a:pPr>
            <a:r>
              <a:t>✔ Risk Register</a:t>
            </a:r>
          </a:p>
          <a:p>
            <a:pPr>
              <a:spcBef>
                <a:spcPts val="200"/>
              </a:spcBef>
              <a:defRPr sz="1000">
                <a:solidFill>
                  <a:srgbClr val="94A3B8"/>
                </a:solidFill>
              </a:defRPr>
            </a:pPr>
            <a:r>
              <a:t>Dynamic risk scoring, mitigation plans, and ownership assignment.</a:t>
            </a:r>
          </a:p>
        </p:txBody>
      </p:sp>
      <p:sp>
        <p:nvSpPr>
          <p:cNvPr id="9" name="Rounded Rectangle 8"/>
          <p:cNvSpPr/>
          <p:nvPr/>
        </p:nvSpPr>
        <p:spPr>
          <a:xfrm>
            <a:off x="342900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20440" y="2057400"/>
            <a:ext cx="2377440" cy="365760"/>
          </a:xfrm>
          <a:prstGeom prst="roundRect">
            <a:avLst/>
          </a:prstGeom>
          <a:solidFill>
            <a:srgbClr val="1E2C4C"/>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6B6D4"/>
                </a:solidFill>
              </a:defRPr>
            </a:pPr>
            <a:r>
              <a:t>BUILD &amp; TEST</a:t>
            </a:r>
          </a:p>
        </p:txBody>
      </p:sp>
      <p:sp>
        <p:nvSpPr>
          <p:cNvPr id="11" name="TextBox 10"/>
          <p:cNvSpPr txBox="1"/>
          <p:nvPr/>
        </p:nvSpPr>
        <p:spPr>
          <a:xfrm>
            <a:off x="3538728" y="2560320"/>
            <a:ext cx="2331720" cy="3566160"/>
          </a:xfrm>
          <a:prstGeom prst="rect">
            <a:avLst/>
          </a:prstGeom>
          <a:noFill/>
        </p:spPr>
        <p:txBody>
          <a:bodyPr wrap="square" lIns="0" rIns="0" tIns="0" bIns="0">
            <a:spAutoFit/>
          </a:bodyPr>
          <a:lstStyle/>
          <a:p>
            <a:pPr>
              <a:defRPr sz="1200" b="1">
                <a:solidFill>
                  <a:srgbClr val="F8FAFC"/>
                </a:solidFill>
              </a:defRPr>
            </a:pPr>
            <a:r>
              <a:t>✔ Test Case Library</a:t>
            </a:r>
          </a:p>
          <a:p>
            <a:pPr>
              <a:spcBef>
                <a:spcPts val="200"/>
              </a:spcBef>
              <a:defRPr sz="1000">
                <a:solidFill>
                  <a:srgbClr val="94A3B8"/>
                </a:solidFill>
              </a:defRPr>
            </a:pPr>
            <a:r>
              <a:t>Versioned test cases with steps, expected outcomes &amp; module mapping.</a:t>
            </a:r>
          </a:p>
          <a:p>
            <a:pPr>
              <a:spcBef>
                <a:spcPts val="1000"/>
              </a:spcBef>
              <a:defRPr sz="1200" b="1">
                <a:solidFill>
                  <a:srgbClr val="F8FAFC"/>
                </a:solidFill>
              </a:defRPr>
            </a:pPr>
            <a:r>
              <a:t>✔ Execution Dashboard</a:t>
            </a:r>
          </a:p>
          <a:p>
            <a:pPr>
              <a:spcBef>
                <a:spcPts val="200"/>
              </a:spcBef>
              <a:defRPr sz="1000">
                <a:solidFill>
                  <a:srgbClr val="94A3B8"/>
                </a:solidFill>
              </a:defRPr>
            </a:pPr>
            <a:r>
              <a:t>Live Pass / Fail / Blocked tracking per run, module, and environment.</a:t>
            </a:r>
          </a:p>
          <a:p>
            <a:pPr>
              <a:spcBef>
                <a:spcPts val="1000"/>
              </a:spcBef>
              <a:defRPr sz="1200" b="1">
                <a:solidFill>
                  <a:srgbClr val="F8FAFC"/>
                </a:solidFill>
              </a:defRPr>
            </a:pPr>
            <a:r>
              <a:t>✔ Defect Management</a:t>
            </a:r>
          </a:p>
          <a:p>
            <a:pPr>
              <a:spcBef>
                <a:spcPts val="200"/>
              </a:spcBef>
              <a:defRPr sz="1000">
                <a:solidFill>
                  <a:srgbClr val="94A3B8"/>
                </a:solidFill>
              </a:defRPr>
            </a:pPr>
            <a:r>
              <a:t>Step-level defect creation, Pareto analysis, and CAPA remediation.</a:t>
            </a:r>
          </a:p>
        </p:txBody>
      </p:sp>
      <p:sp>
        <p:nvSpPr>
          <p:cNvPr id="12" name="Rounded Rectangle 11"/>
          <p:cNvSpPr/>
          <p:nvPr/>
        </p:nvSpPr>
        <p:spPr>
          <a:xfrm>
            <a:off x="612648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2057400"/>
            <a:ext cx="2377440" cy="365760"/>
          </a:xfrm>
          <a:prstGeom prst="roundRect">
            <a:avLst/>
          </a:prstGeom>
          <a:solidFill>
            <a:srgbClr val="1E2C4C"/>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4B8A6"/>
                </a:solidFill>
              </a:defRPr>
            </a:pPr>
            <a:r>
              <a:t>ANALYZE &amp; REPORT</a:t>
            </a:r>
          </a:p>
        </p:txBody>
      </p:sp>
      <p:sp>
        <p:nvSpPr>
          <p:cNvPr id="14" name="TextBox 13"/>
          <p:cNvSpPr txBox="1"/>
          <p:nvPr/>
        </p:nvSpPr>
        <p:spPr>
          <a:xfrm>
            <a:off x="6236208" y="2560320"/>
            <a:ext cx="2331720" cy="3566160"/>
          </a:xfrm>
          <a:prstGeom prst="rect">
            <a:avLst/>
          </a:prstGeom>
          <a:noFill/>
        </p:spPr>
        <p:txBody>
          <a:bodyPr wrap="square" lIns="0" rIns="0" tIns="0" bIns="0">
            <a:spAutoFit/>
          </a:bodyPr>
          <a:lstStyle/>
          <a:p>
            <a:pPr>
              <a:defRPr sz="1200" b="1">
                <a:solidFill>
                  <a:srgbClr val="F8FAFC"/>
                </a:solidFill>
              </a:defRPr>
            </a:pPr>
            <a:r>
              <a:t>✔ PMO Executive Portal</a:t>
            </a:r>
          </a:p>
          <a:p>
            <a:pPr>
              <a:spcBef>
                <a:spcPts val="200"/>
              </a:spcBef>
              <a:defRPr sz="1000">
                <a:solidFill>
                  <a:srgbClr val="94A3B8"/>
                </a:solidFill>
              </a:defRPr>
            </a:pPr>
            <a:r>
              <a:t>SPI, first-pass yield, defect stability, and plan vs. actual timelines.</a:t>
            </a:r>
          </a:p>
          <a:p>
            <a:pPr>
              <a:spcBef>
                <a:spcPts val="1000"/>
              </a:spcBef>
              <a:defRPr sz="1200" b="1">
                <a:solidFill>
                  <a:srgbClr val="F8FAFC"/>
                </a:solidFill>
              </a:defRPr>
            </a:pPr>
            <a:r>
              <a:t>✔ QA Analytics Suite</a:t>
            </a:r>
          </a:p>
          <a:p>
            <a:pPr>
              <a:spcBef>
                <a:spcPts val="200"/>
              </a:spcBef>
              <a:defRPr sz="1000">
                <a:solidFill>
                  <a:srgbClr val="94A3B8"/>
                </a:solidFill>
              </a:defRPr>
            </a:pPr>
            <a:r>
              <a:t>Cross-milestone trends and predictive quality indicators.</a:t>
            </a:r>
          </a:p>
          <a:p>
            <a:pPr>
              <a:spcBef>
                <a:spcPts val="1000"/>
              </a:spcBef>
              <a:defRPr sz="1200" b="1">
                <a:solidFill>
                  <a:srgbClr val="F8FAFC"/>
                </a:solidFill>
              </a:defRPr>
            </a:pPr>
            <a:r>
              <a:t>✔ One-Click Verdicts</a:t>
            </a:r>
          </a:p>
          <a:p>
            <a:pPr>
              <a:spcBef>
                <a:spcPts val="200"/>
              </a:spcBef>
              <a:defRPr sz="1000">
                <a:solidFill>
                  <a:srgbClr val="94A3B8"/>
                </a:solidFill>
              </a:defRPr>
            </a:pPr>
            <a:r>
              <a:t>Automated HTML executive email reports + styled Excel/PDF deliverables.</a:t>
            </a:r>
          </a:p>
        </p:txBody>
      </p:sp>
      <p:sp>
        <p:nvSpPr>
          <p:cNvPr id="15" name="Rounded Rectangle 14"/>
          <p:cNvSpPr/>
          <p:nvPr/>
        </p:nvSpPr>
        <p:spPr>
          <a:xfrm>
            <a:off x="8823960" y="1920240"/>
            <a:ext cx="2560320" cy="429768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15400" y="2057400"/>
            <a:ext cx="2377440" cy="365760"/>
          </a:xfrm>
          <a:prstGeom prst="roundRect">
            <a:avLst/>
          </a:prstGeom>
          <a:solidFill>
            <a:srgbClr val="1E2C4C"/>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59E0B"/>
                </a:solidFill>
              </a:defRPr>
            </a:pPr>
            <a:r>
              <a:t>ENTERPRISE PLATFORM</a:t>
            </a:r>
          </a:p>
        </p:txBody>
      </p:sp>
      <p:sp>
        <p:nvSpPr>
          <p:cNvPr id="17" name="TextBox 16"/>
          <p:cNvSpPr txBox="1"/>
          <p:nvPr/>
        </p:nvSpPr>
        <p:spPr>
          <a:xfrm>
            <a:off x="8933688" y="2560320"/>
            <a:ext cx="2331720" cy="3566160"/>
          </a:xfrm>
          <a:prstGeom prst="rect">
            <a:avLst/>
          </a:prstGeom>
          <a:noFill/>
        </p:spPr>
        <p:txBody>
          <a:bodyPr wrap="square" lIns="0" rIns="0" tIns="0" bIns="0">
            <a:spAutoFit/>
          </a:bodyPr>
          <a:lstStyle/>
          <a:p>
            <a:pPr>
              <a:defRPr sz="1200" b="1">
                <a:solidFill>
                  <a:srgbClr val="F8FAFC"/>
                </a:solidFill>
              </a:defRPr>
            </a:pPr>
            <a:r>
              <a:t>✔ 15 RBAC Roles</a:t>
            </a:r>
          </a:p>
          <a:p>
            <a:pPr>
              <a:spcBef>
                <a:spcPts val="200"/>
              </a:spcBef>
              <a:defRPr sz="1000">
                <a:solidFill>
                  <a:srgbClr val="94A3B8"/>
                </a:solidFill>
              </a:defRPr>
            </a:pPr>
            <a:r>
              <a:t>Department-specific access across FA, PM, Dev, QA, and Leadership.</a:t>
            </a:r>
          </a:p>
          <a:p>
            <a:pPr>
              <a:spcBef>
                <a:spcPts val="1000"/>
              </a:spcBef>
              <a:defRPr sz="1200" b="1">
                <a:solidFill>
                  <a:srgbClr val="F8FAFC"/>
                </a:solidFill>
              </a:defRPr>
            </a:pPr>
            <a:r>
              <a:t>✔ Full Immutable Audit</a:t>
            </a:r>
          </a:p>
          <a:p>
            <a:pPr>
              <a:spcBef>
                <a:spcPts val="200"/>
              </a:spcBef>
              <a:defRPr sz="1000">
                <a:solidFill>
                  <a:srgbClr val="94A3B8"/>
                </a:solidFill>
              </a:defRPr>
            </a:pPr>
            <a:r>
              <a:t>Searchable audit trail tracking every requirement, test, and verdict change.</a:t>
            </a:r>
          </a:p>
          <a:p>
            <a:pPr>
              <a:spcBef>
                <a:spcPts val="1000"/>
              </a:spcBef>
              <a:defRPr sz="1200" b="1">
                <a:solidFill>
                  <a:srgbClr val="F8FAFC"/>
                </a:solidFill>
              </a:defRPr>
            </a:pPr>
            <a:r>
              <a:t>✔ On-Prem / Secure Cloud</a:t>
            </a:r>
          </a:p>
          <a:p>
            <a:pPr>
              <a:spcBef>
                <a:spcPts val="200"/>
              </a:spcBef>
              <a:defRPr sz="1000">
                <a:solidFill>
                  <a:srgbClr val="94A3B8"/>
                </a:solidFill>
              </a:defRPr>
            </a:pPr>
            <a:r>
              <a:t>Office 365 SMTP, enterprise encryption, and complete data sovereignty.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GOVERNANCE &amp; COMPLIANCE</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Enterprise-Grade Security, RBAC &amp; Audit Readiness</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Built for heavily regulated, security-conscious enterprise IT environments.</a:t>
            </a:r>
          </a:p>
        </p:txBody>
      </p:sp>
      <p:sp>
        <p:nvSpPr>
          <p:cNvPr id="6" name="Rounded Rectangle 5"/>
          <p:cNvSpPr/>
          <p:nvPr/>
        </p:nvSpPr>
        <p:spPr>
          <a:xfrm>
            <a:off x="731520" y="192024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57400"/>
            <a:ext cx="4892040" cy="1783080"/>
          </a:xfrm>
          <a:prstGeom prst="rect">
            <a:avLst/>
          </a:prstGeom>
          <a:noFill/>
        </p:spPr>
        <p:txBody>
          <a:bodyPr wrap="square" lIns="0" rIns="0" tIns="0" bIns="0">
            <a:spAutoFit/>
          </a:bodyPr>
          <a:lstStyle/>
          <a:p>
            <a:pPr>
              <a:defRPr sz="1400" b="1">
                <a:solidFill>
                  <a:srgbClr val="A855F7"/>
                </a:solidFill>
                <a:latin typeface="Segoe UI"/>
              </a:defRPr>
            </a:pPr>
            <a:r>
              <a:t>Role-Based Access Control</a:t>
            </a:r>
          </a:p>
          <a:p>
            <a:pPr>
              <a:spcBef>
                <a:spcPts val="200"/>
              </a:spcBef>
              <a:defRPr sz="1100" b="1">
                <a:solidFill>
                  <a:srgbClr val="F8FAFC"/>
                </a:solidFill>
                <a:latin typeface="Calibri"/>
              </a:defRPr>
            </a:pPr>
            <a:r>
              <a:t>15 Granular Roles Across 5 Departments</a:t>
            </a:r>
          </a:p>
          <a:p>
            <a:pPr>
              <a:spcBef>
                <a:spcPts val="300"/>
              </a:spcBef>
              <a:defRPr sz="1050">
                <a:solidFill>
                  <a:srgbClr val="94A3B8"/>
                </a:solidFill>
                <a:latin typeface="Calibri"/>
              </a:defRPr>
            </a:pPr>
            <a:r>
              <a:t>• Tailored views for PMO, FA, Dev Lead, QA Lead, and Executives.</a:t>
            </a:r>
          </a:p>
          <a:p>
            <a:pPr>
              <a:spcBef>
                <a:spcPts val="300"/>
              </a:spcBef>
              <a:defRPr sz="1050">
                <a:solidFill>
                  <a:srgbClr val="94A3B8"/>
                </a:solidFill>
                <a:latin typeface="Calibri"/>
              </a:defRPr>
            </a:pPr>
            <a:r>
              <a:t>• Strict segregation of duties enforced by code logic.</a:t>
            </a:r>
          </a:p>
          <a:p>
            <a:pPr>
              <a:spcBef>
                <a:spcPts val="300"/>
              </a:spcBef>
              <a:defRPr sz="1050">
                <a:solidFill>
                  <a:srgbClr val="94A3B8"/>
                </a:solidFill>
                <a:latin typeface="Calibri"/>
              </a:defRPr>
            </a:pPr>
            <a:r>
              <a:t>• PMO-only dedicated reporting portal view on login.</a:t>
            </a:r>
          </a:p>
        </p:txBody>
      </p:sp>
      <p:sp>
        <p:nvSpPr>
          <p:cNvPr id="8" name="Rounded Rectangle 7"/>
          <p:cNvSpPr/>
          <p:nvPr/>
        </p:nvSpPr>
        <p:spPr>
          <a:xfrm>
            <a:off x="6172200" y="192024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2057400"/>
            <a:ext cx="4892040" cy="1783080"/>
          </a:xfrm>
          <a:prstGeom prst="rect">
            <a:avLst/>
          </a:prstGeom>
          <a:noFill/>
        </p:spPr>
        <p:txBody>
          <a:bodyPr wrap="square" lIns="0" rIns="0" tIns="0" bIns="0">
            <a:spAutoFit/>
          </a:bodyPr>
          <a:lstStyle/>
          <a:p>
            <a:pPr>
              <a:defRPr sz="1400" b="1">
                <a:solidFill>
                  <a:srgbClr val="06B6D4"/>
                </a:solidFill>
                <a:latin typeface="Segoe UI"/>
              </a:defRPr>
            </a:pPr>
            <a:r>
              <a:t>Immutable Audit Trail</a:t>
            </a:r>
          </a:p>
          <a:p>
            <a:pPr>
              <a:spcBef>
                <a:spcPts val="200"/>
              </a:spcBef>
              <a:defRPr sz="1100" b="1">
                <a:solidFill>
                  <a:srgbClr val="F8FAFC"/>
                </a:solidFill>
                <a:latin typeface="Calibri"/>
              </a:defRPr>
            </a:pPr>
            <a:r>
              <a:t>Complete Operational Traceability</a:t>
            </a:r>
          </a:p>
          <a:p>
            <a:pPr>
              <a:spcBef>
                <a:spcPts val="300"/>
              </a:spcBef>
              <a:defRPr sz="1050">
                <a:solidFill>
                  <a:srgbClr val="94A3B8"/>
                </a:solidFill>
                <a:latin typeface="Calibri"/>
              </a:defRPr>
            </a:pPr>
            <a:r>
              <a:t>• Every requirement change, status flip, and verdict is logged.</a:t>
            </a:r>
          </a:p>
          <a:p>
            <a:pPr>
              <a:spcBef>
                <a:spcPts val="300"/>
              </a:spcBef>
              <a:defRPr sz="1050">
                <a:solidFill>
                  <a:srgbClr val="94A3B8"/>
                </a:solidFill>
                <a:latin typeface="Calibri"/>
              </a:defRPr>
            </a:pPr>
            <a:r>
              <a:t>• Full history timestamping per test step and defect.</a:t>
            </a:r>
          </a:p>
          <a:p>
            <a:pPr>
              <a:spcBef>
                <a:spcPts val="300"/>
              </a:spcBef>
              <a:defRPr sz="1050">
                <a:solidFill>
                  <a:srgbClr val="94A3B8"/>
                </a:solidFill>
                <a:latin typeface="Calibri"/>
              </a:defRPr>
            </a:pPr>
            <a:r>
              <a:t>• Audit-ready exports for regulatory &amp; compliance reviews.</a:t>
            </a:r>
          </a:p>
        </p:txBody>
      </p:sp>
      <p:sp>
        <p:nvSpPr>
          <p:cNvPr id="10" name="Rounded Rectangle 9"/>
          <p:cNvSpPr/>
          <p:nvPr/>
        </p:nvSpPr>
        <p:spPr>
          <a:xfrm>
            <a:off x="731520" y="416052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97680"/>
            <a:ext cx="4892040" cy="1783080"/>
          </a:xfrm>
          <a:prstGeom prst="rect">
            <a:avLst/>
          </a:prstGeom>
          <a:noFill/>
        </p:spPr>
        <p:txBody>
          <a:bodyPr wrap="square" lIns="0" rIns="0" tIns="0" bIns="0">
            <a:spAutoFit/>
          </a:bodyPr>
          <a:lstStyle/>
          <a:p>
            <a:pPr>
              <a:defRPr sz="1400" b="1">
                <a:solidFill>
                  <a:srgbClr val="14B8A6"/>
                </a:solidFill>
                <a:latin typeface="Segoe UI"/>
              </a:defRPr>
            </a:pPr>
            <a:r>
              <a:t>Automated PMO Reporting</a:t>
            </a:r>
          </a:p>
          <a:p>
            <a:pPr>
              <a:spcBef>
                <a:spcPts val="200"/>
              </a:spcBef>
              <a:defRPr sz="1100" b="1">
                <a:solidFill>
                  <a:srgbClr val="F8FAFC"/>
                </a:solidFill>
                <a:latin typeface="Calibri"/>
              </a:defRPr>
            </a:pPr>
            <a:r>
              <a:t>One-Click Verdicts &amp; Executive Delivery</a:t>
            </a:r>
          </a:p>
          <a:p>
            <a:pPr>
              <a:spcBef>
                <a:spcPts val="300"/>
              </a:spcBef>
              <a:defRPr sz="1050">
                <a:solidFill>
                  <a:srgbClr val="94A3B8"/>
                </a:solidFill>
                <a:latin typeface="Calibri"/>
              </a:defRPr>
            </a:pPr>
            <a:r>
              <a:t>• HTML email verdicts delivered directly via Office 365 SMTP.</a:t>
            </a:r>
          </a:p>
          <a:p>
            <a:pPr>
              <a:spcBef>
                <a:spcPts val="300"/>
              </a:spcBef>
              <a:defRPr sz="1050">
                <a:solidFill>
                  <a:srgbClr val="94A3B8"/>
                </a:solidFill>
                <a:latin typeface="Calibri"/>
              </a:defRPr>
            </a:pPr>
            <a:r>
              <a:t>• Embedded PDF sign-off certificates with detailed appendices.</a:t>
            </a:r>
          </a:p>
          <a:p>
            <a:pPr>
              <a:spcBef>
                <a:spcPts val="300"/>
              </a:spcBef>
              <a:defRPr sz="1050">
                <a:solidFill>
                  <a:srgbClr val="94A3B8"/>
                </a:solidFill>
                <a:latin typeface="Calibri"/>
              </a:defRPr>
            </a:pPr>
            <a:r>
              <a:t>• Auto-generated Excel workbooks with Pareto &amp; CAPA tabs.</a:t>
            </a:r>
          </a:p>
        </p:txBody>
      </p:sp>
      <p:sp>
        <p:nvSpPr>
          <p:cNvPr id="12" name="Rounded Rectangle 11"/>
          <p:cNvSpPr/>
          <p:nvPr/>
        </p:nvSpPr>
        <p:spPr>
          <a:xfrm>
            <a:off x="6172200" y="4160520"/>
            <a:ext cx="5257800" cy="205740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297680"/>
            <a:ext cx="4892040" cy="1783080"/>
          </a:xfrm>
          <a:prstGeom prst="rect">
            <a:avLst/>
          </a:prstGeom>
          <a:noFill/>
        </p:spPr>
        <p:txBody>
          <a:bodyPr wrap="square" lIns="0" rIns="0" tIns="0" bIns="0">
            <a:spAutoFit/>
          </a:bodyPr>
          <a:lstStyle/>
          <a:p>
            <a:pPr>
              <a:defRPr sz="1400" b="1">
                <a:solidFill>
                  <a:srgbClr val="10B981"/>
                </a:solidFill>
                <a:latin typeface="Segoe UI"/>
              </a:defRPr>
            </a:pPr>
            <a:r>
              <a:t>Security &amp; Enterprise Hosting</a:t>
            </a:r>
          </a:p>
          <a:p>
            <a:pPr>
              <a:spcBef>
                <a:spcPts val="200"/>
              </a:spcBef>
              <a:defRPr sz="1100" b="1">
                <a:solidFill>
                  <a:srgbClr val="F8FAFC"/>
                </a:solidFill>
                <a:latin typeface="Calibri"/>
              </a:defRPr>
            </a:pPr>
            <a:r>
              <a:t>On-Premises or Private Cloud Ready</a:t>
            </a:r>
          </a:p>
          <a:p>
            <a:pPr>
              <a:spcBef>
                <a:spcPts val="300"/>
              </a:spcBef>
              <a:defRPr sz="1050">
                <a:solidFill>
                  <a:srgbClr val="94A3B8"/>
                </a:solidFill>
                <a:latin typeface="Calibri"/>
              </a:defRPr>
            </a:pPr>
            <a:r>
              <a:t>• Deployable within your secure corporate network.</a:t>
            </a:r>
          </a:p>
          <a:p>
            <a:pPr>
              <a:spcBef>
                <a:spcPts val="300"/>
              </a:spcBef>
              <a:defRPr sz="1050">
                <a:solidFill>
                  <a:srgbClr val="94A3B8"/>
                </a:solidFill>
                <a:latin typeface="Calibri"/>
              </a:defRPr>
            </a:pPr>
            <a:r>
              <a:t>• PostgreSQL database with JWT authentication (8h expiry).</a:t>
            </a:r>
          </a:p>
          <a:p>
            <a:pPr>
              <a:spcBef>
                <a:spcPts val="300"/>
              </a:spcBef>
              <a:defRPr sz="1050">
                <a:solidFill>
                  <a:srgbClr val="94A3B8"/>
                </a:solidFill>
                <a:latin typeface="Calibri"/>
              </a:defRPr>
            </a:pPr>
            <a:r>
              <a:t>• Zero external data leakage; enterprise API key controls.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BUSINESS IMPACT</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Measurable ROI &amp; Delivery Acceleration</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Tangible operational gains delivered directly to the enterprise bottom line.</a:t>
            </a:r>
          </a:p>
        </p:txBody>
      </p:sp>
      <p:sp>
        <p:nvSpPr>
          <p:cNvPr id="6" name="Rounded Rectangle 5"/>
          <p:cNvSpPr/>
          <p:nvPr/>
        </p:nvSpPr>
        <p:spPr>
          <a:xfrm>
            <a:off x="73152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2286000" cy="1828800"/>
          </a:xfrm>
          <a:prstGeom prst="rect">
            <a:avLst/>
          </a:prstGeom>
          <a:noFill/>
        </p:spPr>
        <p:txBody>
          <a:bodyPr wrap="square" lIns="0" rIns="0" tIns="0" bIns="0">
            <a:spAutoFit/>
          </a:bodyPr>
          <a:lstStyle/>
          <a:p>
            <a:pPr>
              <a:defRPr sz="2800" b="1">
                <a:solidFill>
                  <a:srgbClr val="14B8A6"/>
                </a:solidFill>
                <a:latin typeface="Segoe UI"/>
              </a:defRPr>
            </a:pPr>
            <a:r>
              <a:t>40%</a:t>
            </a:r>
          </a:p>
          <a:p>
            <a:pPr>
              <a:spcBef>
                <a:spcPts val="400"/>
              </a:spcBef>
              <a:defRPr sz="1100" b="1">
                <a:solidFill>
                  <a:srgbClr val="F8FAFC"/>
                </a:solidFill>
              </a:defRPr>
            </a:pPr>
            <a:r>
              <a:t>FASTER TEST DESIGN</a:t>
            </a:r>
          </a:p>
          <a:p>
            <a:pPr>
              <a:spcBef>
                <a:spcPts val="300"/>
              </a:spcBef>
              <a:defRPr sz="1000">
                <a:solidFill>
                  <a:srgbClr val="94A3B8"/>
                </a:solidFill>
              </a:defRPr>
            </a:pPr>
            <a:r>
              <a:t>AI Requirement Analyzer and Test Generator cut authoring time by nearly half.</a:t>
            </a:r>
          </a:p>
        </p:txBody>
      </p:sp>
      <p:sp>
        <p:nvSpPr>
          <p:cNvPr id="8" name="Rounded Rectangle 7"/>
          <p:cNvSpPr/>
          <p:nvPr/>
        </p:nvSpPr>
        <p:spPr>
          <a:xfrm>
            <a:off x="342900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057400"/>
            <a:ext cx="2286000" cy="1828800"/>
          </a:xfrm>
          <a:prstGeom prst="rect">
            <a:avLst/>
          </a:prstGeom>
          <a:noFill/>
        </p:spPr>
        <p:txBody>
          <a:bodyPr wrap="square" lIns="0" rIns="0" tIns="0" bIns="0">
            <a:spAutoFit/>
          </a:bodyPr>
          <a:lstStyle/>
          <a:p>
            <a:pPr>
              <a:defRPr sz="2800" b="1">
                <a:solidFill>
                  <a:srgbClr val="06B6D4"/>
                </a:solidFill>
                <a:latin typeface="Segoe UI"/>
              </a:defRPr>
            </a:pPr>
            <a:r>
              <a:t>100%</a:t>
            </a:r>
          </a:p>
          <a:p>
            <a:pPr>
              <a:spcBef>
                <a:spcPts val="400"/>
              </a:spcBef>
              <a:defRPr sz="1100" b="1">
                <a:solidFill>
                  <a:srgbClr val="F8FAFC"/>
                </a:solidFill>
              </a:defRPr>
            </a:pPr>
            <a:r>
              <a:t>TRACEABILITY</a:t>
            </a:r>
          </a:p>
          <a:p>
            <a:pPr>
              <a:spcBef>
                <a:spcPts val="300"/>
              </a:spcBef>
              <a:defRPr sz="1000">
                <a:solidFill>
                  <a:srgbClr val="94A3B8"/>
                </a:solidFill>
              </a:defRPr>
            </a:pPr>
            <a:r>
              <a:t>Zero orphaned requirements or untracked defects from intake to UAT sign-off.</a:t>
            </a:r>
          </a:p>
        </p:txBody>
      </p:sp>
      <p:sp>
        <p:nvSpPr>
          <p:cNvPr id="10" name="Rounded Rectangle 9"/>
          <p:cNvSpPr/>
          <p:nvPr/>
        </p:nvSpPr>
        <p:spPr>
          <a:xfrm>
            <a:off x="612648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057400"/>
            <a:ext cx="2286000" cy="1828800"/>
          </a:xfrm>
          <a:prstGeom prst="rect">
            <a:avLst/>
          </a:prstGeom>
          <a:noFill/>
        </p:spPr>
        <p:txBody>
          <a:bodyPr wrap="square" lIns="0" rIns="0" tIns="0" bIns="0">
            <a:spAutoFit/>
          </a:bodyPr>
          <a:lstStyle/>
          <a:p>
            <a:pPr>
              <a:defRPr sz="2800" b="1">
                <a:solidFill>
                  <a:srgbClr val="6366F1"/>
                </a:solidFill>
                <a:latin typeface="Segoe UI"/>
              </a:defRPr>
            </a:pPr>
            <a:r>
              <a:t>0</a:t>
            </a:r>
          </a:p>
          <a:p>
            <a:pPr>
              <a:spcBef>
                <a:spcPts val="400"/>
              </a:spcBef>
              <a:defRPr sz="1100" b="1">
                <a:solidFill>
                  <a:srgbClr val="F8FAFC"/>
                </a:solidFill>
              </a:defRPr>
            </a:pPr>
            <a:r>
              <a:t>SPREADSHEET LEAKS</a:t>
            </a:r>
          </a:p>
          <a:p>
            <a:pPr>
              <a:spcBef>
                <a:spcPts val="300"/>
              </a:spcBef>
              <a:defRPr sz="1000">
                <a:solidFill>
                  <a:srgbClr val="94A3B8"/>
                </a:solidFill>
              </a:defRPr>
            </a:pPr>
            <a:r>
              <a:t>Eliminates Excel attachment version mismatch and manual consolidation overhead.</a:t>
            </a:r>
          </a:p>
        </p:txBody>
      </p:sp>
      <p:sp>
        <p:nvSpPr>
          <p:cNvPr id="12" name="Rounded Rectangle 11"/>
          <p:cNvSpPr/>
          <p:nvPr/>
        </p:nvSpPr>
        <p:spPr>
          <a:xfrm>
            <a:off x="8823960" y="1920240"/>
            <a:ext cx="2560320" cy="210312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2057400"/>
            <a:ext cx="2286000" cy="1828800"/>
          </a:xfrm>
          <a:prstGeom prst="rect">
            <a:avLst/>
          </a:prstGeom>
          <a:noFill/>
        </p:spPr>
        <p:txBody>
          <a:bodyPr wrap="square" lIns="0" rIns="0" tIns="0" bIns="0">
            <a:spAutoFit/>
          </a:bodyPr>
          <a:lstStyle/>
          <a:p>
            <a:pPr>
              <a:defRPr sz="2800" b="1">
                <a:solidFill>
                  <a:srgbClr val="10B981"/>
                </a:solidFill>
                <a:latin typeface="Segoe UI"/>
              </a:defRPr>
            </a:pPr>
            <a:r>
              <a:t>3x</a:t>
            </a:r>
          </a:p>
          <a:p>
            <a:pPr>
              <a:spcBef>
                <a:spcPts val="400"/>
              </a:spcBef>
              <a:defRPr sz="1100" b="1">
                <a:solidFill>
                  <a:srgbClr val="F8FAFC"/>
                </a:solidFill>
              </a:defRPr>
            </a:pPr>
            <a:r>
              <a:t>FASTER REPORTING</a:t>
            </a:r>
          </a:p>
          <a:p>
            <a:pPr>
              <a:spcBef>
                <a:spcPts val="300"/>
              </a:spcBef>
              <a:defRPr sz="1000">
                <a:solidFill>
                  <a:srgbClr val="94A3B8"/>
                </a:solidFill>
              </a:defRPr>
            </a:pPr>
            <a:r>
              <a:t>Automated PMO verdict emails and audit Excel generation in under 60 seconds.</a:t>
            </a:r>
          </a:p>
        </p:txBody>
      </p:sp>
      <p:sp>
        <p:nvSpPr>
          <p:cNvPr id="14" name="Rounded Rectangle 13"/>
          <p:cNvSpPr/>
          <p:nvPr/>
        </p:nvSpPr>
        <p:spPr>
          <a:xfrm>
            <a:off x="731520" y="4297680"/>
            <a:ext cx="10698480" cy="2011680"/>
          </a:xfrm>
          <a:prstGeom prst="roundRect">
            <a:avLst/>
          </a:prstGeom>
          <a:solidFill>
            <a:srgbClr val="1E2C4C"/>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10149840" cy="1737360"/>
          </a:xfrm>
          <a:prstGeom prst="rect">
            <a:avLst/>
          </a:prstGeom>
          <a:noFill/>
        </p:spPr>
        <p:txBody>
          <a:bodyPr wrap="square" lIns="0" rIns="0" tIns="0" bIns="0">
            <a:spAutoFit/>
          </a:bodyPr>
          <a:lstStyle/>
          <a:p>
            <a:pPr>
              <a:defRPr sz="1200" b="1">
                <a:solidFill>
                  <a:srgbClr val="14B8A6"/>
                </a:solidFill>
              </a:defRPr>
            </a:pPr>
            <a:r>
              <a:t>STRATEGIC EXECUTIVE ADVANTAGES</a:t>
            </a:r>
          </a:p>
          <a:p>
            <a:pPr>
              <a:spcBef>
                <a:spcPts val="500"/>
              </a:spcBef>
              <a:defRPr sz="1100">
                <a:solidFill>
                  <a:srgbClr val="F8FAFC"/>
                </a:solidFill>
              </a:defRPr>
            </a:pPr>
            <a:r>
              <a:t>★  Predictable Releases:  Real-time Schedule Performance Index (SPI) and blocker tracking prevent last-minute launch delays.</a:t>
            </a:r>
          </a:p>
          <a:p>
            <a:pPr>
              <a:spcBef>
                <a:spcPts val="500"/>
              </a:spcBef>
              <a:defRPr sz="1100">
                <a:solidFill>
                  <a:srgbClr val="F8FAFC"/>
                </a:solidFill>
              </a:defRPr>
            </a:pPr>
            <a:r>
              <a:t>★  Higher First-Pass Yield:  AI validation at the requirement stage prevents defects from cascading into expensive production fixes.</a:t>
            </a:r>
          </a:p>
          <a:p>
            <a:pPr>
              <a:spcBef>
                <a:spcPts val="500"/>
              </a:spcBef>
              <a:defRPr sz="1100">
                <a:solidFill>
                  <a:srgbClr val="F8FAFC"/>
                </a:solidFill>
              </a:defRPr>
            </a:pPr>
            <a:r>
              <a:t>★  Operational Agility:  Delivery teams spend time building and verifying value rather than manually filling status reports.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lIns="0" rIns="0" tIns="0" bIns="0">
            <a:spAutoFit/>
          </a:bodyPr>
          <a:lstStyle/>
          <a:p>
            <a:pPr>
              <a:defRPr sz="1100" b="1">
                <a:solidFill>
                  <a:srgbClr val="14B8A6"/>
                </a:solidFill>
                <a:latin typeface="Calibri"/>
              </a:defRPr>
            </a:pPr>
            <a:r>
              <a:t>IMPLEMENTATION &amp; NEXT STEPS</a:t>
            </a:r>
          </a:p>
        </p:txBody>
      </p:sp>
      <p:sp>
        <p:nvSpPr>
          <p:cNvPr id="4" name="TextBox 3"/>
          <p:cNvSpPr txBox="1"/>
          <p:nvPr/>
        </p:nvSpPr>
        <p:spPr>
          <a:xfrm>
            <a:off x="731520" y="731520"/>
            <a:ext cx="10698480" cy="594360"/>
          </a:xfrm>
          <a:prstGeom prst="rect">
            <a:avLst/>
          </a:prstGeom>
          <a:noFill/>
        </p:spPr>
        <p:txBody>
          <a:bodyPr wrap="square" lIns="0" rIns="0" tIns="0" bIns="0">
            <a:spAutoFit/>
          </a:bodyPr>
          <a:lstStyle/>
          <a:p>
            <a:pPr>
              <a:defRPr sz="2600" b="1">
                <a:solidFill>
                  <a:srgbClr val="F8FAFC"/>
                </a:solidFill>
                <a:latin typeface="Segoe UI"/>
              </a:defRPr>
            </a:pPr>
            <a:r>
              <a:t>Strategic Rollout Roadmap &amp; Action Plan</a:t>
            </a:r>
          </a:p>
        </p:txBody>
      </p:sp>
      <p:sp>
        <p:nvSpPr>
          <p:cNvPr id="5" name="TextBox 4"/>
          <p:cNvSpPr txBox="1"/>
          <p:nvPr/>
        </p:nvSpPr>
        <p:spPr>
          <a:xfrm>
            <a:off x="731520" y="1353312"/>
            <a:ext cx="10698480" cy="411480"/>
          </a:xfrm>
          <a:prstGeom prst="rect">
            <a:avLst/>
          </a:prstGeom>
          <a:noFill/>
        </p:spPr>
        <p:txBody>
          <a:bodyPr wrap="square" lIns="0" rIns="0" tIns="0" bIns="0">
            <a:spAutoFit/>
          </a:bodyPr>
          <a:lstStyle/>
          <a:p>
            <a:pPr>
              <a:defRPr sz="1300">
                <a:solidFill>
                  <a:srgbClr val="94A3B8"/>
                </a:solidFill>
                <a:latin typeface="Calibri"/>
              </a:defRPr>
            </a:pPr>
            <a:r>
              <a:t>A phased, low-risk adoption path delivering immediate project value.</a:t>
            </a:r>
          </a:p>
        </p:txBody>
      </p:sp>
      <p:sp>
        <p:nvSpPr>
          <p:cNvPr id="6" name="Rounded Rectangle 5"/>
          <p:cNvSpPr/>
          <p:nvPr/>
        </p:nvSpPr>
        <p:spPr>
          <a:xfrm>
            <a:off x="73152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2286000" cy="1920240"/>
          </a:xfrm>
          <a:prstGeom prst="rect">
            <a:avLst/>
          </a:prstGeom>
          <a:noFill/>
        </p:spPr>
        <p:txBody>
          <a:bodyPr wrap="square" lIns="0" rIns="0" tIns="0" bIns="0">
            <a:spAutoFit/>
          </a:bodyPr>
          <a:lstStyle/>
          <a:p>
            <a:pPr>
              <a:defRPr sz="1300" b="1">
                <a:solidFill>
                  <a:srgbClr val="A855F7"/>
                </a:solidFill>
                <a:latin typeface="Segoe UI"/>
              </a:defRPr>
            </a:pPr>
            <a:r>
              <a:t>Phase 1: Pilot</a:t>
            </a:r>
          </a:p>
          <a:p>
            <a:pPr>
              <a:spcBef>
                <a:spcPts val="300"/>
              </a:spcBef>
              <a:defRPr sz="1050" b="1">
                <a:solidFill>
                  <a:srgbClr val="F8FAFC"/>
                </a:solidFill>
              </a:defRPr>
            </a:pPr>
            <a:r>
              <a:t>Weeks 1 - 2</a:t>
            </a:r>
          </a:p>
          <a:p>
            <a:pPr>
              <a:spcBef>
                <a:spcPts val="500"/>
              </a:spcBef>
              <a:defRPr sz="1000">
                <a:solidFill>
                  <a:srgbClr val="94A3B8"/>
                </a:solidFill>
              </a:defRPr>
            </a:pPr>
            <a:r>
              <a:t>Deploy on 2 flagship projects; configure Redmine API sync &amp; role matrices.</a:t>
            </a:r>
          </a:p>
        </p:txBody>
      </p:sp>
      <p:sp>
        <p:nvSpPr>
          <p:cNvPr id="8" name="Rounded Rectangle 7"/>
          <p:cNvSpPr/>
          <p:nvPr/>
        </p:nvSpPr>
        <p:spPr>
          <a:xfrm>
            <a:off x="342900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66160" y="2057400"/>
            <a:ext cx="2286000" cy="1920240"/>
          </a:xfrm>
          <a:prstGeom prst="rect">
            <a:avLst/>
          </a:prstGeom>
          <a:noFill/>
        </p:spPr>
        <p:txBody>
          <a:bodyPr wrap="square" lIns="0" rIns="0" tIns="0" bIns="0">
            <a:spAutoFit/>
          </a:bodyPr>
          <a:lstStyle/>
          <a:p>
            <a:pPr>
              <a:defRPr sz="1300" b="1">
                <a:solidFill>
                  <a:srgbClr val="6366F1"/>
                </a:solidFill>
                <a:latin typeface="Segoe UI"/>
              </a:defRPr>
            </a:pPr>
            <a:r>
              <a:t>Phase 2: Enablement</a:t>
            </a:r>
          </a:p>
          <a:p>
            <a:pPr>
              <a:spcBef>
                <a:spcPts val="300"/>
              </a:spcBef>
              <a:defRPr sz="1050" b="1">
                <a:solidFill>
                  <a:srgbClr val="F8FAFC"/>
                </a:solidFill>
              </a:defRPr>
            </a:pPr>
            <a:r>
              <a:t>Weeks 3 - 4</a:t>
            </a:r>
          </a:p>
          <a:p>
            <a:pPr>
              <a:spcBef>
                <a:spcPts val="500"/>
              </a:spcBef>
              <a:defRPr sz="1000">
                <a:solidFill>
                  <a:srgbClr val="94A3B8"/>
                </a:solidFill>
              </a:defRPr>
            </a:pPr>
            <a:r>
              <a:t>Onboard PMO, FA, Dev, and QA leads; activate AI Requirement Analyzer.</a:t>
            </a:r>
          </a:p>
        </p:txBody>
      </p:sp>
      <p:sp>
        <p:nvSpPr>
          <p:cNvPr id="10" name="Rounded Rectangle 9"/>
          <p:cNvSpPr/>
          <p:nvPr/>
        </p:nvSpPr>
        <p:spPr>
          <a:xfrm>
            <a:off x="612648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63640" y="2057400"/>
            <a:ext cx="2286000" cy="1920240"/>
          </a:xfrm>
          <a:prstGeom prst="rect">
            <a:avLst/>
          </a:prstGeom>
          <a:noFill/>
        </p:spPr>
        <p:txBody>
          <a:bodyPr wrap="square" lIns="0" rIns="0" tIns="0" bIns="0">
            <a:spAutoFit/>
          </a:bodyPr>
          <a:lstStyle/>
          <a:p>
            <a:pPr>
              <a:defRPr sz="1300" b="1">
                <a:solidFill>
                  <a:srgbClr val="06B6D4"/>
                </a:solidFill>
                <a:latin typeface="Segoe UI"/>
              </a:defRPr>
            </a:pPr>
            <a:r>
              <a:t>Phase 3: Scale</a:t>
            </a:r>
          </a:p>
          <a:p>
            <a:pPr>
              <a:spcBef>
                <a:spcPts val="300"/>
              </a:spcBef>
              <a:defRPr sz="1050" b="1">
                <a:solidFill>
                  <a:srgbClr val="F8FAFC"/>
                </a:solidFill>
              </a:defRPr>
            </a:pPr>
            <a:r>
              <a:t>Month 2</a:t>
            </a:r>
          </a:p>
          <a:p>
            <a:pPr>
              <a:spcBef>
                <a:spcPts val="500"/>
              </a:spcBef>
              <a:defRPr sz="1000">
                <a:solidFill>
                  <a:srgbClr val="94A3B8"/>
                </a:solidFill>
              </a:defRPr>
            </a:pPr>
            <a:r>
              <a:t>Roll out across all enterprise projects; standardize automated PMO verdict delivery.</a:t>
            </a:r>
          </a:p>
        </p:txBody>
      </p:sp>
      <p:sp>
        <p:nvSpPr>
          <p:cNvPr id="12" name="Rounded Rectangle 11"/>
          <p:cNvSpPr/>
          <p:nvPr/>
        </p:nvSpPr>
        <p:spPr>
          <a:xfrm>
            <a:off x="8823960" y="1920240"/>
            <a:ext cx="2560320" cy="2194560"/>
          </a:xfrm>
          <a:prstGeom prst="roundRect">
            <a:avLst/>
          </a:prstGeom>
          <a:solidFill>
            <a:srgbClr val="16213A"/>
          </a:solidFill>
          <a:ln w="15240">
            <a:solidFill>
              <a:srgbClr val="2D4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0" y="2057400"/>
            <a:ext cx="2286000" cy="1920240"/>
          </a:xfrm>
          <a:prstGeom prst="rect">
            <a:avLst/>
          </a:prstGeom>
          <a:noFill/>
        </p:spPr>
        <p:txBody>
          <a:bodyPr wrap="square" lIns="0" rIns="0" tIns="0" bIns="0">
            <a:spAutoFit/>
          </a:bodyPr>
          <a:lstStyle/>
          <a:p>
            <a:pPr>
              <a:defRPr sz="1300" b="1">
                <a:solidFill>
                  <a:srgbClr val="10B981"/>
                </a:solidFill>
                <a:latin typeface="Segoe UI"/>
              </a:defRPr>
            </a:pPr>
            <a:r>
              <a:t>Phase 4: Optimization</a:t>
            </a:r>
          </a:p>
          <a:p>
            <a:pPr>
              <a:spcBef>
                <a:spcPts val="300"/>
              </a:spcBef>
              <a:defRPr sz="1050" b="1">
                <a:solidFill>
                  <a:srgbClr val="F8FAFC"/>
                </a:solidFill>
              </a:defRPr>
            </a:pPr>
            <a:r>
              <a:t>Month 3+</a:t>
            </a:r>
          </a:p>
          <a:p>
            <a:pPr>
              <a:spcBef>
                <a:spcPts val="500"/>
              </a:spcBef>
              <a:defRPr sz="1000">
                <a:solidFill>
                  <a:srgbClr val="94A3B8"/>
                </a:solidFill>
              </a:defRPr>
            </a:pPr>
            <a:r>
              <a:t>Continuous QA analytics, predictive defect trend modeling &amp; lessons learned review.</a:t>
            </a:r>
          </a:p>
        </p:txBody>
      </p:sp>
      <p:sp>
        <p:nvSpPr>
          <p:cNvPr id="14" name="Rounded Rectangle 13"/>
          <p:cNvSpPr/>
          <p:nvPr/>
        </p:nvSpPr>
        <p:spPr>
          <a:xfrm>
            <a:off x="731520" y="4389120"/>
            <a:ext cx="10698480" cy="1920240"/>
          </a:xfrm>
          <a:prstGeom prst="roundRect">
            <a:avLst/>
          </a:prstGeom>
          <a:solidFill>
            <a:srgbClr val="1E2C4C"/>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526280"/>
            <a:ext cx="9966960" cy="1645920"/>
          </a:xfrm>
          <a:prstGeom prst="rect">
            <a:avLst/>
          </a:prstGeom>
          <a:noFill/>
        </p:spPr>
        <p:txBody>
          <a:bodyPr wrap="square" lIns="0" rIns="0" tIns="0" bIns="0">
            <a:spAutoFit/>
          </a:bodyPr>
          <a:lstStyle/>
          <a:p>
            <a:pPr>
              <a:defRPr sz="1400" b="1">
                <a:solidFill>
                  <a:srgbClr val="14B8A6"/>
                </a:solidFill>
              </a:defRPr>
            </a:pPr>
            <a:r>
              <a:t>THE VERDICT: READY TO TRANSFORM DELIVERY QUALITY</a:t>
            </a:r>
          </a:p>
          <a:p>
            <a:pPr>
              <a:spcBef>
                <a:spcPts val="600"/>
              </a:spcBef>
              <a:defRPr sz="1200">
                <a:solidFill>
                  <a:srgbClr val="F8FAFC"/>
                </a:solidFill>
              </a:defRPr>
            </a:pPr>
            <a:r>
              <a:t>QM Pulse is fully built, integrated, and ready to deploy. We invite executive leadership to approve the Phase 1 Pilot rollout starting this week.</a:t>
            </a:r>
            <a:br/>
            <a:br/>
            <a:r>
              <a:t>Thank you — Opening the floor for Questions &amp; Strategic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